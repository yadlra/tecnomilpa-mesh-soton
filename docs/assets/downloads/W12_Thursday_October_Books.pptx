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9235440" y="0"/>
            <a:ext cx="2926080" cy="1463040"/>
          </a:xfrm>
          <a:prstGeom prst="rect">
            <a:avLst/>
          </a:prstGeom>
          <a:solidFill>
            <a:srgbClr val="C5E886"/>
          </a:solidFill>
          <a:ln w="12700">
            <a:solidFill>
              <a:srgbClr val="C5E886"/>
            </a:solidFill>
            <a:prstDash val="solid"/>
          </a:ln>
        </p:spPr>
      </p:sp>
      <p:sp>
        <p:nvSpPr>
          <p:cNvPr id="3" name="Shape 1"/>
          <p:cNvSpPr/>
          <p:nvPr/>
        </p:nvSpPr>
        <p:spPr>
          <a:xfrm>
            <a:off x="548640" y="640080"/>
            <a:ext cx="1280160" cy="365760"/>
          </a:xfrm>
          <a:prstGeom prst="roundRect">
            <a:avLst>
              <a:gd name="adj" fmla="val 50000"/>
            </a:avLst>
          </a:prstGeom>
          <a:solidFill>
            <a:srgbClr val="E8A0D8"/>
          </a:solidFill>
          <a:ln w="12700">
            <a:solidFill>
              <a:srgbClr val="E8A0D8"/>
            </a:solidFill>
            <a:prstDash val="solid"/>
          </a:ln>
        </p:spPr>
      </p:sp>
      <p:sp>
        <p:nvSpPr>
          <p:cNvPr id="4" name="Text 2"/>
          <p:cNvSpPr/>
          <p:nvPr/>
        </p:nvSpPr>
        <p:spPr>
          <a:xfrm>
            <a:off x="548640" y="640080"/>
            <a:ext cx="1280160"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Week 12</a:t>
            </a:r>
            <a:endParaRPr lang="en-US" sz="1200" dirty="0"/>
          </a:p>
        </p:txBody>
      </p:sp>
      <p:sp>
        <p:nvSpPr>
          <p:cNvPr id="5" name="Text 3"/>
          <p:cNvSpPr/>
          <p:nvPr/>
        </p:nvSpPr>
        <p:spPr>
          <a:xfrm>
            <a:off x="548640" y="1737360"/>
            <a:ext cx="10058400" cy="2377440"/>
          </a:xfrm>
          <a:prstGeom prst="rect">
            <a:avLst/>
          </a:prstGeom>
          <a:noFill/>
          <a:ln/>
        </p:spPr>
        <p:txBody>
          <a:bodyPr wrap="square" lIns="0" tIns="0" rIns="0" bIns="0" rtlCol="0" anchor="ctr"/>
          <a:lstStyle/>
          <a:p>
            <a:pPr indent="0" marL="0">
              <a:buNone/>
            </a:pPr>
            <a:r>
              <a:rPr lang="en-US" sz="8000" b="1" dirty="0">
                <a:solidFill>
                  <a:srgbClr val="FFFFFF"/>
                </a:solidFill>
                <a:latin typeface="Georgia" pitchFamily="34" charset="0"/>
                <a:ea typeface="Georgia" pitchFamily="34" charset="-122"/>
                <a:cs typeface="Georgia" pitchFamily="34" charset="-120"/>
              </a:rPr>
              <a:t>Thursday at</a:t>
            </a:r>
            <a:endParaRPr lang="en-US" sz="8000" dirty="0"/>
          </a:p>
          <a:p>
            <a:pPr indent="0" marL="0">
              <a:buNone/>
            </a:pPr>
            <a:r>
              <a:rPr lang="en-US" sz="8000" b="1" dirty="0">
                <a:solidFill>
                  <a:srgbClr val="FFFFFF"/>
                </a:solidFill>
                <a:latin typeface="Georgia" pitchFamily="34" charset="0"/>
                <a:ea typeface="Georgia" pitchFamily="34" charset="-122"/>
                <a:cs typeface="Georgia" pitchFamily="34" charset="-120"/>
              </a:rPr>
              <a:t>October Books</a:t>
            </a:r>
            <a:endParaRPr lang="en-US" sz="8000" dirty="0"/>
          </a:p>
        </p:txBody>
      </p:sp>
      <p:sp>
        <p:nvSpPr>
          <p:cNvPr id="6" name="Text 4"/>
          <p:cNvSpPr/>
          <p:nvPr/>
        </p:nvSpPr>
        <p:spPr>
          <a:xfrm>
            <a:off x="548640" y="4389120"/>
            <a:ext cx="10058400" cy="548640"/>
          </a:xfrm>
          <a:prstGeom prst="rect">
            <a:avLst/>
          </a:prstGeom>
          <a:noFill/>
          <a:ln/>
        </p:spPr>
        <p:txBody>
          <a:bodyPr wrap="square" lIns="0" tIns="0" rIns="0" bIns="0" rtlCol="0" anchor="ctr"/>
          <a:lstStyle/>
          <a:p>
            <a:pPr indent="0" marL="0">
              <a:buNone/>
            </a:pPr>
            <a:r>
              <a:rPr lang="en-US" sz="2200" i="1" dirty="0">
                <a:solidFill>
                  <a:srgbClr val="C5E886"/>
                </a:solidFill>
                <a:latin typeface="Georgia" pitchFamily="34" charset="0"/>
                <a:ea typeface="Georgia" pitchFamily="34" charset="-122"/>
                <a:cs typeface="Georgia" pitchFamily="34" charset="-120"/>
              </a:rPr>
              <a:t>What's happening, why, and what we'll do together</a:t>
            </a:r>
            <a:endParaRPr lang="en-US" sz="2200" dirty="0"/>
          </a:p>
        </p:txBody>
      </p:sp>
      <p:sp>
        <p:nvSpPr>
          <p:cNvPr id="7" name="Text 5"/>
          <p:cNvSpPr/>
          <p:nvPr/>
        </p:nvSpPr>
        <p:spPr>
          <a:xfrm>
            <a:off x="548640" y="6035040"/>
            <a:ext cx="7315200" cy="274320"/>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Interactivity and Play, Year 2 Creative Computing</a:t>
            </a:r>
            <a:endParaRPr lang="en-US" sz="1200" dirty="0"/>
          </a:p>
        </p:txBody>
      </p:sp>
      <p:sp>
        <p:nvSpPr>
          <p:cNvPr id="8" name="Text 6"/>
          <p:cNvSpPr/>
          <p:nvPr/>
        </p:nvSpPr>
        <p:spPr>
          <a:xfrm>
            <a:off x="7589520" y="6035040"/>
            <a:ext cx="4023360" cy="274320"/>
          </a:xfrm>
          <a:prstGeom prst="rect">
            <a:avLst/>
          </a:prstGeom>
          <a:noFill/>
          <a:ln/>
        </p:spPr>
        <p:txBody>
          <a:bodyPr wrap="square" lIns="0" tIns="0" rIns="0" bIns="0" rtlCol="0" anchor="ctr"/>
          <a:lstStyle/>
          <a:p>
            <a:pPr algn="r" indent="0" marL="0">
              <a:buNone/>
            </a:pPr>
            <a:r>
              <a:rPr lang="en-US" sz="1200" dirty="0">
                <a:solidFill>
                  <a:srgbClr val="AAAAAA"/>
                </a:solidFill>
                <a:latin typeface="Calibri" pitchFamily="34" charset="0"/>
                <a:ea typeface="Calibri" pitchFamily="34" charset="-122"/>
                <a:cs typeface="Calibri" pitchFamily="34" charset="-120"/>
              </a:rPr>
              <a:t>Dr Yadira Sanchez Benitez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8A0D8"/>
          </a:solidFill>
          <a:ln w="12700">
            <a:solidFill>
              <a:srgbClr val="E8A0D8"/>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WHAT THURSDAY IS</a:t>
            </a:r>
            <a:endParaRPr lang="en-US" sz="1100" dirty="0"/>
          </a:p>
        </p:txBody>
      </p:sp>
      <p:sp>
        <p:nvSpPr>
          <p:cNvPr id="4" name="Text 2"/>
          <p:cNvSpPr/>
          <p:nvPr/>
        </p:nvSpPr>
        <p:spPr>
          <a:xfrm>
            <a:off x="548640" y="1005840"/>
            <a:ext cx="11155680" cy="1280160"/>
          </a:xfrm>
          <a:prstGeom prst="rect">
            <a:avLst/>
          </a:prstGeom>
          <a:noFill/>
          <a:ln/>
        </p:spPr>
        <p:txBody>
          <a:bodyPr wrap="square" lIns="0" tIns="0" rIns="0" bIns="0" rtlCol="0" anchor="ctr"/>
          <a:lstStyle/>
          <a:p>
            <a:pPr indent="0" marL="0">
              <a:buNone/>
            </a:pPr>
            <a:r>
              <a:rPr lang="en-US" sz="4600" b="1" dirty="0">
                <a:solidFill>
                  <a:srgbClr val="2A2A2A"/>
                </a:solidFill>
                <a:latin typeface="Georgia" pitchFamily="34" charset="0"/>
                <a:ea typeface="Georgia" pitchFamily="34" charset="-122"/>
                <a:cs typeface="Georgia" pitchFamily="34" charset="-120"/>
              </a:rPr>
              <a:t>Thursday is presentation day,</a:t>
            </a:r>
            <a:endParaRPr lang="en-US" sz="4600" dirty="0"/>
          </a:p>
        </p:txBody>
      </p:sp>
      <p:sp>
        <p:nvSpPr>
          <p:cNvPr id="5" name="Text 3"/>
          <p:cNvSpPr/>
          <p:nvPr/>
        </p:nvSpPr>
        <p:spPr>
          <a:xfrm>
            <a:off x="548640" y="2286000"/>
            <a:ext cx="11155680" cy="1097280"/>
          </a:xfrm>
          <a:prstGeom prst="rect">
            <a:avLst/>
          </a:prstGeom>
          <a:noFill/>
          <a:ln/>
        </p:spPr>
        <p:txBody>
          <a:bodyPr wrap="square" lIns="0" tIns="0" rIns="0" bIns="0" rtlCol="0" anchor="ctr"/>
          <a:lstStyle/>
          <a:p>
            <a:pPr indent="0" marL="0">
              <a:buNone/>
            </a:pPr>
            <a:r>
              <a:rPr lang="en-US" sz="4600" b="1" dirty="0">
                <a:solidFill>
                  <a:srgbClr val="C76FBA"/>
                </a:solidFill>
                <a:latin typeface="Georgia" pitchFamily="34" charset="0"/>
                <a:ea typeface="Georgia" pitchFamily="34" charset="-122"/>
                <a:cs typeface="Georgia" pitchFamily="34" charset="-120"/>
              </a:rPr>
              <a:t>at October Books.</a:t>
            </a:r>
            <a:endParaRPr lang="en-US" sz="4600" dirty="0"/>
          </a:p>
        </p:txBody>
      </p:sp>
      <p:sp>
        <p:nvSpPr>
          <p:cNvPr id="6" name="Text 4"/>
          <p:cNvSpPr/>
          <p:nvPr/>
        </p:nvSpPr>
        <p:spPr>
          <a:xfrm>
            <a:off x="548640" y="4023360"/>
            <a:ext cx="10972800" cy="457200"/>
          </a:xfrm>
          <a:prstGeom prst="rect">
            <a:avLst/>
          </a:prstGeom>
          <a:noFill/>
          <a:ln/>
        </p:spPr>
        <p:txBody>
          <a:bodyPr wrap="square" lIns="0" tIns="0" rIns="0" bIns="0" rtlCol="0" anchor="ctr"/>
          <a:lstStyle/>
          <a:p>
            <a:pPr indent="0" marL="0">
              <a:buNone/>
            </a:pPr>
            <a:r>
              <a:rPr lang="en-US" sz="2000" dirty="0">
                <a:solidFill>
                  <a:srgbClr val="6B6B6B"/>
                </a:solidFill>
                <a:latin typeface="Calibri" pitchFamily="34" charset="0"/>
                <a:ea typeface="Calibri" pitchFamily="34" charset="-122"/>
                <a:cs typeface="Calibri" pitchFamily="34" charset="-120"/>
              </a:rPr>
              <a:t>As the module handbook says, this is the day we present the work.</a:t>
            </a:r>
            <a:endParaRPr lang="en-US" sz="2000" dirty="0"/>
          </a:p>
        </p:txBody>
      </p:sp>
      <p:sp>
        <p:nvSpPr>
          <p:cNvPr id="7" name="Text 5"/>
          <p:cNvSpPr/>
          <p:nvPr/>
        </p:nvSpPr>
        <p:spPr>
          <a:xfrm>
            <a:off x="548640" y="4572000"/>
            <a:ext cx="10972800" cy="457200"/>
          </a:xfrm>
          <a:prstGeom prst="rect">
            <a:avLst/>
          </a:prstGeom>
          <a:noFill/>
          <a:ln/>
        </p:spPr>
        <p:txBody>
          <a:bodyPr wrap="square" lIns="0" tIns="0" rIns="0" bIns="0" rtlCol="0" anchor="ctr"/>
          <a:lstStyle/>
          <a:p>
            <a:pPr indent="0" marL="0">
              <a:buNone/>
            </a:pPr>
            <a:r>
              <a:rPr lang="en-US" sz="2000" dirty="0">
                <a:solidFill>
                  <a:srgbClr val="6B6B6B"/>
                </a:solidFill>
                <a:latin typeface="Calibri" pitchFamily="34" charset="0"/>
                <a:ea typeface="Calibri" pitchFamily="34" charset="-122"/>
                <a:cs typeface="Calibri" pitchFamily="34" charset="-120"/>
              </a:rPr>
              <a:t>The venue is October Books, the community bookshop on Portswood Road.</a:t>
            </a:r>
            <a:endParaRPr lang="en-US" sz="2000" dirty="0"/>
          </a:p>
        </p:txBody>
      </p:sp>
      <p:sp>
        <p:nvSpPr>
          <p:cNvPr id="8" name="Text 6"/>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9" name="Text 7"/>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 of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F2C14E"/>
          </a:solidFill>
          <a:ln w="12700">
            <a:solidFill>
              <a:srgbClr val="F2C14E"/>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ONE HONEST UPDATE</a:t>
            </a:r>
            <a:endParaRPr lang="en-US" sz="1100" dirty="0"/>
          </a:p>
        </p:txBody>
      </p:sp>
      <p:sp>
        <p:nvSpPr>
          <p:cNvPr id="4" name="Text 2"/>
          <p:cNvSpPr/>
          <p:nvPr/>
        </p:nvSpPr>
        <p:spPr>
          <a:xfrm>
            <a:off x="548640" y="1097280"/>
            <a:ext cx="10972800" cy="822960"/>
          </a:xfrm>
          <a:prstGeom prst="rect">
            <a:avLst/>
          </a:prstGeom>
          <a:noFill/>
          <a:ln/>
        </p:spPr>
        <p:txBody>
          <a:bodyPr wrap="square" lIns="0" tIns="0" rIns="0" bIns="0" rtlCol="0" anchor="ctr"/>
          <a:lstStyle/>
          <a:p>
            <a:pPr indent="0" marL="0">
              <a:buNone/>
            </a:pPr>
            <a:r>
              <a:rPr lang="en-US" sz="4400" b="1" dirty="0">
                <a:solidFill>
                  <a:srgbClr val="2A2A2A"/>
                </a:solidFill>
                <a:latin typeface="Georgia" pitchFamily="34" charset="0"/>
                <a:ea typeface="Georgia" pitchFamily="34" charset="-122"/>
                <a:cs typeface="Georgia" pitchFamily="34" charset="-120"/>
              </a:rPr>
              <a:t>The public facing aspect</a:t>
            </a:r>
            <a:endParaRPr lang="en-US" sz="4400" dirty="0"/>
          </a:p>
        </p:txBody>
      </p:sp>
      <p:sp>
        <p:nvSpPr>
          <p:cNvPr id="5" name="Text 3"/>
          <p:cNvSpPr/>
          <p:nvPr/>
        </p:nvSpPr>
        <p:spPr>
          <a:xfrm>
            <a:off x="548640" y="1920240"/>
            <a:ext cx="10972800" cy="822960"/>
          </a:xfrm>
          <a:prstGeom prst="rect">
            <a:avLst/>
          </a:prstGeom>
          <a:noFill/>
          <a:ln/>
        </p:spPr>
        <p:txBody>
          <a:bodyPr wrap="square" lIns="0" tIns="0" rIns="0" bIns="0" rtlCol="0" anchor="ctr"/>
          <a:lstStyle/>
          <a:p>
            <a:pPr indent="0" marL="0">
              <a:buNone/>
            </a:pPr>
            <a:r>
              <a:rPr lang="en-US" sz="4400" b="1" dirty="0">
                <a:solidFill>
                  <a:srgbClr val="2A2A2A"/>
                </a:solidFill>
                <a:latin typeface="Georgia" pitchFamily="34" charset="0"/>
                <a:ea typeface="Georgia" pitchFamily="34" charset="-122"/>
                <a:cs typeface="Georgia" pitchFamily="34" charset="-120"/>
              </a:rPr>
              <a:t>won't happen this time round.</a:t>
            </a:r>
            <a:endParaRPr lang="en-US" sz="4400" dirty="0"/>
          </a:p>
        </p:txBody>
      </p:sp>
      <p:sp>
        <p:nvSpPr>
          <p:cNvPr id="6" name="Shape 4"/>
          <p:cNvSpPr/>
          <p:nvPr/>
        </p:nvSpPr>
        <p:spPr>
          <a:xfrm>
            <a:off x="548640" y="3200400"/>
            <a:ext cx="73152" cy="1645920"/>
          </a:xfrm>
          <a:prstGeom prst="rect">
            <a:avLst/>
          </a:prstGeom>
          <a:solidFill>
            <a:srgbClr val="F2C14E"/>
          </a:solidFill>
          <a:ln w="12700">
            <a:solidFill>
              <a:srgbClr val="F2C14E"/>
            </a:solidFill>
            <a:prstDash val="solid"/>
          </a:ln>
        </p:spPr>
      </p:sp>
      <p:sp>
        <p:nvSpPr>
          <p:cNvPr id="7" name="Text 5"/>
          <p:cNvSpPr/>
          <p:nvPr/>
        </p:nvSpPr>
        <p:spPr>
          <a:xfrm>
            <a:off x="822960" y="3154680"/>
            <a:ext cx="5029200" cy="365760"/>
          </a:xfrm>
          <a:prstGeom prst="rect">
            <a:avLst/>
          </a:prstGeom>
          <a:noFill/>
          <a:ln/>
        </p:spPr>
        <p:txBody>
          <a:bodyPr wrap="square" lIns="0" tIns="0" rIns="0" bIns="0" rtlCol="0" anchor="ctr"/>
          <a:lstStyle/>
          <a:p>
            <a:pPr indent="0" marL="0">
              <a:buNone/>
            </a:pPr>
            <a:r>
              <a:rPr lang="en-US" sz="1400" b="1" spc="300" kern="0" dirty="0">
                <a:solidFill>
                  <a:srgbClr val="6B6B6B"/>
                </a:solidFill>
                <a:latin typeface="Calibri" pitchFamily="34" charset="0"/>
                <a:ea typeface="Calibri" pitchFamily="34" charset="-122"/>
                <a:cs typeface="Calibri" pitchFamily="34" charset="-120"/>
              </a:rPr>
              <a:t>Why</a:t>
            </a:r>
            <a:endParaRPr lang="en-US" sz="1400" dirty="0"/>
          </a:p>
        </p:txBody>
      </p:sp>
      <p:sp>
        <p:nvSpPr>
          <p:cNvPr id="8" name="Text 6"/>
          <p:cNvSpPr/>
          <p:nvPr/>
        </p:nvSpPr>
        <p:spPr>
          <a:xfrm>
            <a:off x="822960" y="3520440"/>
            <a:ext cx="5029200" cy="13716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The timeline is tight, I'm leaving for fieldwork in Colombia and Mexico, and a real public facing deployment needs more time, safeguarding, and maintenance than we can give it right now.</a:t>
            </a:r>
            <a:endParaRPr lang="en-US" sz="1600" dirty="0"/>
          </a:p>
        </p:txBody>
      </p:sp>
      <p:sp>
        <p:nvSpPr>
          <p:cNvPr id="9" name="Shape 7"/>
          <p:cNvSpPr/>
          <p:nvPr/>
        </p:nvSpPr>
        <p:spPr>
          <a:xfrm>
            <a:off x="6309360" y="3200400"/>
            <a:ext cx="73152" cy="1645920"/>
          </a:xfrm>
          <a:prstGeom prst="rect">
            <a:avLst/>
          </a:prstGeom>
          <a:solidFill>
            <a:srgbClr val="C5E886"/>
          </a:solidFill>
          <a:ln w="12700">
            <a:solidFill>
              <a:srgbClr val="C5E886"/>
            </a:solidFill>
            <a:prstDash val="solid"/>
          </a:ln>
        </p:spPr>
      </p:sp>
      <p:sp>
        <p:nvSpPr>
          <p:cNvPr id="10" name="Text 8"/>
          <p:cNvSpPr/>
          <p:nvPr/>
        </p:nvSpPr>
        <p:spPr>
          <a:xfrm>
            <a:off x="6583680" y="3154680"/>
            <a:ext cx="5029200" cy="365760"/>
          </a:xfrm>
          <a:prstGeom prst="rect">
            <a:avLst/>
          </a:prstGeom>
          <a:noFill/>
          <a:ln/>
        </p:spPr>
        <p:txBody>
          <a:bodyPr wrap="square" lIns="0" tIns="0" rIns="0" bIns="0" rtlCol="0" anchor="ctr"/>
          <a:lstStyle/>
          <a:p>
            <a:pPr indent="0" marL="0">
              <a:buNone/>
            </a:pPr>
            <a:r>
              <a:rPr lang="en-US" sz="1400" b="1" spc="300" kern="0" dirty="0">
                <a:solidFill>
                  <a:srgbClr val="6B6B6B"/>
                </a:solidFill>
                <a:latin typeface="Calibri" pitchFamily="34" charset="0"/>
                <a:ea typeface="Calibri" pitchFamily="34" charset="-122"/>
                <a:cs typeface="Calibri" pitchFamily="34" charset="-120"/>
              </a:rPr>
              <a:t>What we keep</a:t>
            </a:r>
            <a:endParaRPr lang="en-US" sz="1400" dirty="0"/>
          </a:p>
        </p:txBody>
      </p:sp>
      <p:sp>
        <p:nvSpPr>
          <p:cNvPr id="11" name="Text 9"/>
          <p:cNvSpPr/>
          <p:nvPr/>
        </p:nvSpPr>
        <p:spPr>
          <a:xfrm>
            <a:off x="6583680" y="3520440"/>
            <a:ext cx="5029200" cy="13716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The day still happens. October Books is still the place. We use the time for fieldwork: scouting the four sites where next year's nodes could live, and setting up one reference node together so you've seen it done.</a:t>
            </a:r>
            <a:endParaRPr lang="en-US" sz="1600" dirty="0"/>
          </a:p>
        </p:txBody>
      </p:sp>
      <p:sp>
        <p:nvSpPr>
          <p:cNvPr id="12" name="Text 10"/>
          <p:cNvSpPr/>
          <p:nvPr/>
        </p:nvSpPr>
        <p:spPr>
          <a:xfrm>
            <a:off x="548640" y="5852160"/>
            <a:ext cx="10972800" cy="365760"/>
          </a:xfrm>
          <a:prstGeom prst="rect">
            <a:avLst/>
          </a:prstGeom>
          <a:noFill/>
          <a:ln/>
        </p:spPr>
        <p:txBody>
          <a:bodyPr wrap="square" lIns="0" tIns="0" rIns="0" bIns="0" rtlCol="0" anchor="ctr"/>
          <a:lstStyle/>
          <a:p>
            <a:pPr indent="0" marL="0">
              <a:buNone/>
            </a:pPr>
            <a:r>
              <a:rPr lang="en-US" sz="1800" i="1" dirty="0">
                <a:solidFill>
                  <a:srgbClr val="C76FBA"/>
                </a:solidFill>
                <a:latin typeface="Georgia" pitchFamily="34" charset="0"/>
                <a:ea typeface="Georgia" pitchFamily="34" charset="-122"/>
                <a:cs typeface="Georgia" pitchFamily="34" charset="-120"/>
              </a:rPr>
              <a:t>Speculative not staged. Honest is better than performed.</a:t>
            </a:r>
            <a:endParaRPr lang="en-US" sz="1800" dirty="0"/>
          </a:p>
        </p:txBody>
      </p:sp>
      <p:sp>
        <p:nvSpPr>
          <p:cNvPr id="13" name="Text 1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14" name="Text 12"/>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 of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C5E886"/>
          </a:solidFill>
          <a:ln w="12700">
            <a:solidFill>
              <a:srgbClr val="C5E886"/>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SHAPE OF THE DAY</a:t>
            </a:r>
            <a:endParaRPr lang="en-US" sz="1100" dirty="0"/>
          </a:p>
        </p:txBody>
      </p:sp>
      <p:sp>
        <p:nvSpPr>
          <p:cNvPr id="4" name="Text 2"/>
          <p:cNvSpPr/>
          <p:nvPr/>
        </p:nvSpPr>
        <p:spPr>
          <a:xfrm>
            <a:off x="548640" y="868680"/>
            <a:ext cx="10972800" cy="822960"/>
          </a:xfrm>
          <a:prstGeom prst="rect">
            <a:avLst/>
          </a:prstGeom>
          <a:noFill/>
          <a:ln/>
        </p:spPr>
        <p:txBody>
          <a:bodyPr wrap="square" lIns="0" tIns="0" rIns="0" bIns="0" rtlCol="0" anchor="ctr"/>
          <a:lstStyle/>
          <a:p>
            <a:pPr indent="0" marL="0">
              <a:buNone/>
            </a:pPr>
            <a:r>
              <a:rPr lang="en-US" sz="4400" b="1" dirty="0">
                <a:solidFill>
                  <a:srgbClr val="2A2A2A"/>
                </a:solidFill>
                <a:latin typeface="Georgia" pitchFamily="34" charset="0"/>
                <a:ea typeface="Georgia" pitchFamily="34" charset="-122"/>
                <a:cs typeface="Georgia" pitchFamily="34" charset="-120"/>
              </a:rPr>
              <a:t>Three things, in order</a:t>
            </a:r>
            <a:endParaRPr lang="en-US" sz="4400" dirty="0"/>
          </a:p>
        </p:txBody>
      </p:sp>
      <p:sp>
        <p:nvSpPr>
          <p:cNvPr id="5" name="Shape 3"/>
          <p:cNvSpPr/>
          <p:nvPr/>
        </p:nvSpPr>
        <p:spPr>
          <a:xfrm>
            <a:off x="548640" y="2103120"/>
            <a:ext cx="548640" cy="1280160"/>
          </a:xfrm>
          <a:prstGeom prst="rect">
            <a:avLst/>
          </a:prstGeom>
          <a:solidFill>
            <a:srgbClr val="C5E886"/>
          </a:solidFill>
          <a:ln w="12700">
            <a:solidFill>
              <a:srgbClr val="C5E886"/>
            </a:solidFill>
            <a:prstDash val="solid"/>
          </a:ln>
        </p:spPr>
      </p:sp>
      <p:sp>
        <p:nvSpPr>
          <p:cNvPr id="6" name="Text 4"/>
          <p:cNvSpPr/>
          <p:nvPr/>
        </p:nvSpPr>
        <p:spPr>
          <a:xfrm>
            <a:off x="548640" y="2103120"/>
            <a:ext cx="548640" cy="12801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371600" y="2148840"/>
            <a:ext cx="10058400" cy="457200"/>
          </a:xfrm>
          <a:prstGeom prst="rect">
            <a:avLst/>
          </a:prstGeom>
          <a:noFill/>
          <a:ln/>
        </p:spPr>
        <p:txBody>
          <a:bodyPr wrap="square" lIns="0" tIns="0" rIns="0" bIns="0" rtlCol="0" anchor="ctr"/>
          <a:lstStyle/>
          <a:p>
            <a:pPr indent="0" marL="0">
              <a:buNone/>
            </a:pPr>
            <a:r>
              <a:rPr lang="en-US" sz="2200" b="1" dirty="0">
                <a:solidFill>
                  <a:srgbClr val="2A2A2A"/>
                </a:solidFill>
                <a:latin typeface="Georgia" pitchFamily="34" charset="0"/>
                <a:ea typeface="Georgia" pitchFamily="34" charset="-122"/>
                <a:cs typeface="Georgia" pitchFamily="34" charset="-120"/>
              </a:rPr>
              <a:t>Meet at October Books</a:t>
            </a:r>
            <a:endParaRPr lang="en-US" sz="2200" dirty="0"/>
          </a:p>
        </p:txBody>
      </p:sp>
      <p:sp>
        <p:nvSpPr>
          <p:cNvPr id="8" name="Text 6"/>
          <p:cNvSpPr/>
          <p:nvPr/>
        </p:nvSpPr>
        <p:spPr>
          <a:xfrm>
            <a:off x="1371600" y="2697480"/>
            <a:ext cx="10058400" cy="73152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Short hello, what the place is, why it matters as a starting point. Set up the reference node together.</a:t>
            </a:r>
            <a:endParaRPr lang="en-US" sz="1500" dirty="0"/>
          </a:p>
        </p:txBody>
      </p:sp>
      <p:sp>
        <p:nvSpPr>
          <p:cNvPr id="9" name="Shape 7"/>
          <p:cNvSpPr/>
          <p:nvPr/>
        </p:nvSpPr>
        <p:spPr>
          <a:xfrm>
            <a:off x="548640" y="3520440"/>
            <a:ext cx="548640" cy="1280160"/>
          </a:xfrm>
          <a:prstGeom prst="rect">
            <a:avLst/>
          </a:prstGeom>
          <a:solidFill>
            <a:srgbClr val="E8A0D8"/>
          </a:solidFill>
          <a:ln w="12700">
            <a:solidFill>
              <a:srgbClr val="E8A0D8"/>
            </a:solidFill>
            <a:prstDash val="solid"/>
          </a:ln>
        </p:spPr>
      </p:sp>
      <p:sp>
        <p:nvSpPr>
          <p:cNvPr id="10" name="Text 8"/>
          <p:cNvSpPr/>
          <p:nvPr/>
        </p:nvSpPr>
        <p:spPr>
          <a:xfrm>
            <a:off x="548640" y="3520440"/>
            <a:ext cx="548640" cy="12801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1371600" y="3566160"/>
            <a:ext cx="10058400" cy="457200"/>
          </a:xfrm>
          <a:prstGeom prst="rect">
            <a:avLst/>
          </a:prstGeom>
          <a:noFill/>
          <a:ln/>
        </p:spPr>
        <p:txBody>
          <a:bodyPr wrap="square" lIns="0" tIns="0" rIns="0" bIns="0" rtlCol="0" anchor="ctr"/>
          <a:lstStyle/>
          <a:p>
            <a:pPr indent="0" marL="0">
              <a:buNone/>
            </a:pPr>
            <a:r>
              <a:rPr lang="en-US" sz="2200" b="1" dirty="0">
                <a:solidFill>
                  <a:srgbClr val="2A2A2A"/>
                </a:solidFill>
                <a:latin typeface="Georgia" pitchFamily="34" charset="0"/>
                <a:ea typeface="Georgia" pitchFamily="34" charset="-122"/>
                <a:cs typeface="Georgia" pitchFamily="34" charset="-120"/>
              </a:rPr>
              <a:t>Walk from October Books to Highfield</a:t>
            </a:r>
            <a:endParaRPr lang="en-US" sz="2200" dirty="0"/>
          </a:p>
        </p:txBody>
      </p:sp>
      <p:sp>
        <p:nvSpPr>
          <p:cNvPr id="12" name="Text 10"/>
          <p:cNvSpPr/>
          <p:nvPr/>
        </p:nvSpPr>
        <p:spPr>
          <a:xfrm>
            <a:off x="1371600" y="4114800"/>
            <a:ext cx="10058400" cy="73152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Stopping at four candidate sites. Survey sheet in hand. You read the city for where infrastructure could live.</a:t>
            </a:r>
            <a:endParaRPr lang="en-US" sz="1500" dirty="0"/>
          </a:p>
        </p:txBody>
      </p:sp>
      <p:sp>
        <p:nvSpPr>
          <p:cNvPr id="13" name="Shape 11"/>
          <p:cNvSpPr/>
          <p:nvPr/>
        </p:nvSpPr>
        <p:spPr>
          <a:xfrm>
            <a:off x="548640" y="4937760"/>
            <a:ext cx="548640" cy="1280160"/>
          </a:xfrm>
          <a:prstGeom prst="rect">
            <a:avLst/>
          </a:prstGeom>
          <a:solidFill>
            <a:srgbClr val="F2C14E"/>
          </a:solidFill>
          <a:ln w="12700">
            <a:solidFill>
              <a:srgbClr val="F2C14E"/>
            </a:solidFill>
            <a:prstDash val="solid"/>
          </a:ln>
        </p:spPr>
      </p:sp>
      <p:sp>
        <p:nvSpPr>
          <p:cNvPr id="14" name="Text 12"/>
          <p:cNvSpPr/>
          <p:nvPr/>
        </p:nvSpPr>
        <p:spPr>
          <a:xfrm>
            <a:off x="548640" y="4937760"/>
            <a:ext cx="548640" cy="12801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1371600" y="4983480"/>
            <a:ext cx="10058400" cy="457200"/>
          </a:xfrm>
          <a:prstGeom prst="rect">
            <a:avLst/>
          </a:prstGeom>
          <a:noFill/>
          <a:ln/>
        </p:spPr>
        <p:txBody>
          <a:bodyPr wrap="square" lIns="0" tIns="0" rIns="0" bIns="0" rtlCol="0" anchor="ctr"/>
          <a:lstStyle/>
          <a:p>
            <a:pPr indent="0" marL="0">
              <a:buNone/>
            </a:pPr>
            <a:r>
              <a:rPr lang="en-US" sz="2200" b="1" dirty="0">
                <a:solidFill>
                  <a:srgbClr val="2A2A2A"/>
                </a:solidFill>
                <a:latin typeface="Georgia" pitchFamily="34" charset="0"/>
                <a:ea typeface="Georgia" pitchFamily="34" charset="-122"/>
                <a:cs typeface="Georgia" pitchFamily="34" charset="-120"/>
              </a:rPr>
              <a:t>Close together</a:t>
            </a:r>
            <a:endParaRPr lang="en-US" sz="2200" dirty="0"/>
          </a:p>
        </p:txBody>
      </p:sp>
      <p:sp>
        <p:nvSpPr>
          <p:cNvPr id="16" name="Text 14"/>
          <p:cNvSpPr/>
          <p:nvPr/>
        </p:nvSpPr>
        <p:spPr>
          <a:xfrm>
            <a:off x="1371600" y="5532120"/>
            <a:ext cx="10058400" cy="73152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Compare site notes, agree the four spots that would work best for next year, write a short shared paragraph for the project record.</a:t>
            </a:r>
            <a:endParaRPr lang="en-US" sz="1500" dirty="0"/>
          </a:p>
        </p:txBody>
      </p:sp>
      <p:sp>
        <p:nvSpPr>
          <p:cNvPr id="17" name="Text 15"/>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18" name="Text 16"/>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 of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8A0D8"/>
          </a:solidFill>
          <a:ln w="12700">
            <a:solidFill>
              <a:srgbClr val="E8A0D8"/>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WHY THIS WALK</a:t>
            </a:r>
            <a:endParaRPr lang="en-US" sz="1100" dirty="0"/>
          </a:p>
        </p:txBody>
      </p:sp>
      <p:sp>
        <p:nvSpPr>
          <p:cNvPr id="4" name="Text 2"/>
          <p:cNvSpPr/>
          <p:nvPr/>
        </p:nvSpPr>
        <p:spPr>
          <a:xfrm>
            <a:off x="548640" y="914400"/>
            <a:ext cx="10972800" cy="1737360"/>
          </a:xfrm>
          <a:prstGeom prst="rect">
            <a:avLst/>
          </a:prstGeom>
          <a:noFill/>
          <a:ln/>
        </p:spPr>
        <p:txBody>
          <a:bodyPr wrap="square" lIns="0" tIns="0" rIns="0" bIns="0" rtlCol="0" anchor="ctr"/>
          <a:lstStyle/>
          <a:p>
            <a:pPr indent="0" marL="0">
              <a:buNone/>
            </a:pPr>
            <a:r>
              <a:rPr lang="en-US" sz="4800" b="1" dirty="0">
                <a:solidFill>
                  <a:srgbClr val="2A2A2A"/>
                </a:solidFill>
                <a:latin typeface="Georgia" pitchFamily="34" charset="0"/>
                <a:ea typeface="Georgia" pitchFamily="34" charset="-122"/>
                <a:cs typeface="Georgia" pitchFamily="34" charset="-120"/>
              </a:rPr>
              <a:t>Four sites,</a:t>
            </a:r>
            <a:endParaRPr lang="en-US" sz="4800" dirty="0"/>
          </a:p>
          <a:p>
            <a:pPr indent="0" marL="0">
              <a:buNone/>
            </a:pPr>
            <a:r>
              <a:rPr lang="en-US" sz="4800" b="1" dirty="0">
                <a:solidFill>
                  <a:srgbClr val="2A2A2A"/>
                </a:solidFill>
                <a:latin typeface="Georgia" pitchFamily="34" charset="0"/>
                <a:ea typeface="Georgia" pitchFamily="34" charset="-122"/>
                <a:cs typeface="Georgia" pitchFamily="34" charset="-120"/>
              </a:rPr>
              <a:t>because four nodes.</a:t>
            </a:r>
            <a:endParaRPr lang="en-US" sz="4800" dirty="0"/>
          </a:p>
        </p:txBody>
      </p:sp>
      <p:sp>
        <p:nvSpPr>
          <p:cNvPr id="5" name="Text 3"/>
          <p:cNvSpPr/>
          <p:nvPr/>
        </p:nvSpPr>
        <p:spPr>
          <a:xfrm>
            <a:off x="548640" y="3108960"/>
            <a:ext cx="10972800" cy="1280160"/>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Next year, four solar powered mesh nodes will be deployed along the route between October Books and Highfield. They need to talk to each other, sit in places that make sense, and survive without me there to look after them.</a:t>
            </a:r>
            <a:endParaRPr lang="en-US" sz="1800" dirty="0"/>
          </a:p>
        </p:txBody>
      </p:sp>
      <p:sp>
        <p:nvSpPr>
          <p:cNvPr id="6" name="Shape 4"/>
          <p:cNvSpPr/>
          <p:nvPr/>
        </p:nvSpPr>
        <p:spPr>
          <a:xfrm>
            <a:off x="548640" y="4937760"/>
            <a:ext cx="2697480" cy="457200"/>
          </a:xfrm>
          <a:prstGeom prst="roundRect">
            <a:avLst>
              <a:gd name="adj" fmla="val 20000"/>
            </a:avLst>
          </a:prstGeom>
          <a:solidFill>
            <a:srgbClr val="F5F2EA"/>
          </a:solidFill>
          <a:ln w="12700">
            <a:solidFill>
              <a:srgbClr val="9DBE5A"/>
            </a:solidFill>
            <a:prstDash val="solid"/>
          </a:ln>
        </p:spPr>
      </p:sp>
      <p:sp>
        <p:nvSpPr>
          <p:cNvPr id="7" name="Text 5"/>
          <p:cNvSpPr/>
          <p:nvPr/>
        </p:nvSpPr>
        <p:spPr>
          <a:xfrm>
            <a:off x="548640" y="4937760"/>
            <a:ext cx="2697480" cy="457200"/>
          </a:xfrm>
          <a:prstGeom prst="rect">
            <a:avLst/>
          </a:prstGeom>
          <a:noFill/>
          <a:ln/>
        </p:spPr>
        <p:txBody>
          <a:bodyPr wrap="square" lIns="0" tIns="0" rIns="0" bIns="0" rtlCol="0" anchor="ctr"/>
          <a:lstStyle/>
          <a:p>
            <a:pPr algn="ctr" indent="0" marL="0">
              <a:buNone/>
            </a:pPr>
            <a:r>
              <a:rPr lang="en-US" sz="1300" b="1" dirty="0">
                <a:solidFill>
                  <a:srgbClr val="2A2A2A"/>
                </a:solidFill>
                <a:latin typeface="Calibri" pitchFamily="34" charset="0"/>
                <a:ea typeface="Calibri" pitchFamily="34" charset="-122"/>
                <a:cs typeface="Calibri" pitchFamily="34" charset="-120"/>
              </a:rPr>
              <a:t>01  October Books area</a:t>
            </a:r>
            <a:endParaRPr lang="en-US" sz="1300" dirty="0"/>
          </a:p>
        </p:txBody>
      </p:sp>
      <p:sp>
        <p:nvSpPr>
          <p:cNvPr id="8" name="Shape 6"/>
          <p:cNvSpPr/>
          <p:nvPr/>
        </p:nvSpPr>
        <p:spPr>
          <a:xfrm>
            <a:off x="3383280" y="4937760"/>
            <a:ext cx="2697480" cy="457200"/>
          </a:xfrm>
          <a:prstGeom prst="roundRect">
            <a:avLst>
              <a:gd name="adj" fmla="val 20000"/>
            </a:avLst>
          </a:prstGeom>
          <a:solidFill>
            <a:srgbClr val="F5F2EA"/>
          </a:solidFill>
          <a:ln w="12700">
            <a:solidFill>
              <a:srgbClr val="9DBE5A"/>
            </a:solidFill>
            <a:prstDash val="solid"/>
          </a:ln>
        </p:spPr>
      </p:sp>
      <p:sp>
        <p:nvSpPr>
          <p:cNvPr id="9" name="Text 7"/>
          <p:cNvSpPr/>
          <p:nvPr/>
        </p:nvSpPr>
        <p:spPr>
          <a:xfrm>
            <a:off x="3383280" y="4937760"/>
            <a:ext cx="2697480" cy="457200"/>
          </a:xfrm>
          <a:prstGeom prst="rect">
            <a:avLst/>
          </a:prstGeom>
          <a:noFill/>
          <a:ln/>
        </p:spPr>
        <p:txBody>
          <a:bodyPr wrap="square" lIns="0" tIns="0" rIns="0" bIns="0" rtlCol="0" anchor="ctr"/>
          <a:lstStyle/>
          <a:p>
            <a:pPr algn="ctr" indent="0" marL="0">
              <a:buNone/>
            </a:pPr>
            <a:r>
              <a:rPr lang="en-US" sz="1300" b="1" dirty="0">
                <a:solidFill>
                  <a:srgbClr val="2A2A2A"/>
                </a:solidFill>
                <a:latin typeface="Calibri" pitchFamily="34" charset="0"/>
                <a:ea typeface="Calibri" pitchFamily="34" charset="-122"/>
                <a:cs typeface="Calibri" pitchFamily="34" charset="-120"/>
              </a:rPr>
              <a:t>02  Portswood Rd</a:t>
            </a:r>
            <a:endParaRPr lang="en-US" sz="1300" dirty="0"/>
          </a:p>
        </p:txBody>
      </p:sp>
      <p:sp>
        <p:nvSpPr>
          <p:cNvPr id="10" name="Shape 8"/>
          <p:cNvSpPr/>
          <p:nvPr/>
        </p:nvSpPr>
        <p:spPr>
          <a:xfrm>
            <a:off x="6217920" y="4937760"/>
            <a:ext cx="2697480" cy="457200"/>
          </a:xfrm>
          <a:prstGeom prst="roundRect">
            <a:avLst>
              <a:gd name="adj" fmla="val 20000"/>
            </a:avLst>
          </a:prstGeom>
          <a:solidFill>
            <a:srgbClr val="F5F2EA"/>
          </a:solidFill>
          <a:ln w="12700">
            <a:solidFill>
              <a:srgbClr val="9DBE5A"/>
            </a:solidFill>
            <a:prstDash val="solid"/>
          </a:ln>
        </p:spPr>
      </p:sp>
      <p:sp>
        <p:nvSpPr>
          <p:cNvPr id="11" name="Text 9"/>
          <p:cNvSpPr/>
          <p:nvPr/>
        </p:nvSpPr>
        <p:spPr>
          <a:xfrm>
            <a:off x="6217920" y="4937760"/>
            <a:ext cx="2697480" cy="457200"/>
          </a:xfrm>
          <a:prstGeom prst="rect">
            <a:avLst/>
          </a:prstGeom>
          <a:noFill/>
          <a:ln/>
        </p:spPr>
        <p:txBody>
          <a:bodyPr wrap="square" lIns="0" tIns="0" rIns="0" bIns="0" rtlCol="0" anchor="ctr"/>
          <a:lstStyle/>
          <a:p>
            <a:pPr algn="ctr" indent="0" marL="0">
              <a:buNone/>
            </a:pPr>
            <a:r>
              <a:rPr lang="en-US" sz="1300" b="1" dirty="0">
                <a:solidFill>
                  <a:srgbClr val="2A2A2A"/>
                </a:solidFill>
                <a:latin typeface="Calibri" pitchFamily="34" charset="0"/>
                <a:ea typeface="Calibri" pitchFamily="34" charset="-122"/>
                <a:cs typeface="Calibri" pitchFamily="34" charset="-120"/>
              </a:rPr>
              <a:t>03  Approach to Highfield</a:t>
            </a:r>
            <a:endParaRPr lang="en-US" sz="1300" dirty="0"/>
          </a:p>
        </p:txBody>
      </p:sp>
      <p:sp>
        <p:nvSpPr>
          <p:cNvPr id="12" name="Shape 10"/>
          <p:cNvSpPr/>
          <p:nvPr/>
        </p:nvSpPr>
        <p:spPr>
          <a:xfrm>
            <a:off x="9052560" y="4937760"/>
            <a:ext cx="2697480" cy="457200"/>
          </a:xfrm>
          <a:prstGeom prst="roundRect">
            <a:avLst>
              <a:gd name="adj" fmla="val 20000"/>
            </a:avLst>
          </a:prstGeom>
          <a:solidFill>
            <a:srgbClr val="F5F2EA"/>
          </a:solidFill>
          <a:ln w="12700">
            <a:solidFill>
              <a:srgbClr val="9DBE5A"/>
            </a:solidFill>
            <a:prstDash val="solid"/>
          </a:ln>
        </p:spPr>
      </p:sp>
      <p:sp>
        <p:nvSpPr>
          <p:cNvPr id="13" name="Text 11"/>
          <p:cNvSpPr/>
          <p:nvPr/>
        </p:nvSpPr>
        <p:spPr>
          <a:xfrm>
            <a:off x="9052560" y="4937760"/>
            <a:ext cx="2697480" cy="457200"/>
          </a:xfrm>
          <a:prstGeom prst="rect">
            <a:avLst/>
          </a:prstGeom>
          <a:noFill/>
          <a:ln/>
        </p:spPr>
        <p:txBody>
          <a:bodyPr wrap="square" lIns="0" tIns="0" rIns="0" bIns="0" rtlCol="0" anchor="ctr"/>
          <a:lstStyle/>
          <a:p>
            <a:pPr algn="ctr" indent="0" marL="0">
              <a:buNone/>
            </a:pPr>
            <a:r>
              <a:rPr lang="en-US" sz="1300" b="1" dirty="0">
                <a:solidFill>
                  <a:srgbClr val="2A2A2A"/>
                </a:solidFill>
                <a:latin typeface="Calibri" pitchFamily="34" charset="0"/>
                <a:ea typeface="Calibri" pitchFamily="34" charset="-122"/>
                <a:cs typeface="Calibri" pitchFamily="34" charset="-120"/>
              </a:rPr>
              <a:t>04  Highfield campus edge</a:t>
            </a:r>
            <a:endParaRPr lang="en-US" sz="1300" dirty="0"/>
          </a:p>
        </p:txBody>
      </p:sp>
      <p:sp>
        <p:nvSpPr>
          <p:cNvPr id="14" name="Text 12"/>
          <p:cNvSpPr/>
          <p:nvPr/>
        </p:nvSpPr>
        <p:spPr>
          <a:xfrm>
            <a:off x="548640" y="5669280"/>
            <a:ext cx="10972800" cy="36576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These are working titles. You'll help decide the actual spots on the day.</a:t>
            </a:r>
            <a:endParaRPr lang="en-US" sz="1400" dirty="0"/>
          </a:p>
        </p:txBody>
      </p:sp>
      <p:sp>
        <p:nvSpPr>
          <p:cNvPr id="15" name="Text 13"/>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16" name="Text 14"/>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 of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C5E886"/>
          </a:solidFill>
          <a:ln w="12700">
            <a:solidFill>
              <a:srgbClr val="C5E886"/>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HOW WE READ A SITE</a:t>
            </a:r>
            <a:endParaRPr lang="en-US" sz="1100" dirty="0"/>
          </a:p>
        </p:txBody>
      </p:sp>
      <p:sp>
        <p:nvSpPr>
          <p:cNvPr id="4" name="Text 2"/>
          <p:cNvSpPr/>
          <p:nvPr/>
        </p:nvSpPr>
        <p:spPr>
          <a:xfrm>
            <a:off x="548640" y="914400"/>
            <a:ext cx="10972800" cy="822960"/>
          </a:xfrm>
          <a:prstGeom prst="rect">
            <a:avLst/>
          </a:prstGeom>
          <a:noFill/>
          <a:ln/>
        </p:spPr>
        <p:txBody>
          <a:bodyPr wrap="square" lIns="0" tIns="0" rIns="0" bIns="0" rtlCol="0" anchor="ctr"/>
          <a:lstStyle/>
          <a:p>
            <a:pPr indent="0" marL="0">
              <a:buNone/>
            </a:pPr>
            <a:r>
              <a:rPr lang="en-US" sz="4000" b="1" dirty="0">
                <a:solidFill>
                  <a:srgbClr val="2A2A2A"/>
                </a:solidFill>
                <a:latin typeface="Georgia" pitchFamily="34" charset="0"/>
                <a:ea typeface="Georgia" pitchFamily="34" charset="-122"/>
                <a:cs typeface="Georgia" pitchFamily="34" charset="-120"/>
              </a:rPr>
              <a:t>You'll have a survey sheet.</a:t>
            </a:r>
            <a:endParaRPr lang="en-US" sz="4000" dirty="0"/>
          </a:p>
        </p:txBody>
      </p:sp>
      <p:sp>
        <p:nvSpPr>
          <p:cNvPr id="5" name="Text 3"/>
          <p:cNvSpPr/>
          <p:nvPr/>
        </p:nvSpPr>
        <p:spPr>
          <a:xfrm>
            <a:off x="548640" y="1828800"/>
            <a:ext cx="10972800" cy="457200"/>
          </a:xfrm>
          <a:prstGeom prst="rect">
            <a:avLst/>
          </a:prstGeom>
          <a:noFill/>
          <a:ln/>
        </p:spPr>
        <p:txBody>
          <a:bodyPr wrap="square" lIns="0" tIns="0" rIns="0" bIns="0" rtlCol="0" anchor="ctr"/>
          <a:lstStyle/>
          <a:p>
            <a:pPr indent="0" marL="0">
              <a:buNone/>
            </a:pPr>
            <a:r>
              <a:rPr lang="en-US" sz="1800" i="1" dirty="0">
                <a:solidFill>
                  <a:srgbClr val="6B6B6B"/>
                </a:solidFill>
                <a:latin typeface="Calibri" pitchFamily="34" charset="0"/>
                <a:ea typeface="Calibri" pitchFamily="34" charset="-122"/>
                <a:cs typeface="Calibri" pitchFamily="34" charset="-120"/>
              </a:rPr>
              <a:t>It's how engineers and field researchers decide where to put infrastructure.</a:t>
            </a:r>
            <a:endParaRPr lang="en-US" sz="1800" dirty="0"/>
          </a:p>
        </p:txBody>
      </p:sp>
      <p:sp>
        <p:nvSpPr>
          <p:cNvPr id="6" name="Shape 4"/>
          <p:cNvSpPr/>
          <p:nvPr/>
        </p:nvSpPr>
        <p:spPr>
          <a:xfrm>
            <a:off x="548640" y="2743200"/>
            <a:ext cx="3703320" cy="1417320"/>
          </a:xfrm>
          <a:prstGeom prst="rect">
            <a:avLst/>
          </a:prstGeom>
          <a:solidFill>
            <a:srgbClr val="F5F2EA"/>
          </a:solidFill>
          <a:ln w="6350">
            <a:solidFill>
              <a:srgbClr val="E8E2D2"/>
            </a:solidFill>
            <a:prstDash val="solid"/>
          </a:ln>
        </p:spPr>
      </p:sp>
      <p:sp>
        <p:nvSpPr>
          <p:cNvPr id="7" name="Shape 5"/>
          <p:cNvSpPr/>
          <p:nvPr/>
        </p:nvSpPr>
        <p:spPr>
          <a:xfrm>
            <a:off x="548640" y="2743200"/>
            <a:ext cx="73152" cy="1417320"/>
          </a:xfrm>
          <a:prstGeom prst="rect">
            <a:avLst/>
          </a:prstGeom>
          <a:solidFill>
            <a:srgbClr val="C5E886"/>
          </a:solidFill>
          <a:ln w="12700">
            <a:solidFill>
              <a:srgbClr val="C5E886"/>
            </a:solidFill>
            <a:prstDash val="solid"/>
          </a:ln>
        </p:spPr>
      </p:sp>
      <p:sp>
        <p:nvSpPr>
          <p:cNvPr id="8" name="Text 6"/>
          <p:cNvSpPr/>
          <p:nvPr/>
        </p:nvSpPr>
        <p:spPr>
          <a:xfrm>
            <a:off x="777240" y="2834640"/>
            <a:ext cx="3383280" cy="365760"/>
          </a:xfrm>
          <a:prstGeom prst="rect">
            <a:avLst/>
          </a:prstGeom>
          <a:noFill/>
          <a:ln/>
        </p:spPr>
        <p:txBody>
          <a:bodyPr wrap="square" lIns="0" tIns="0" rIns="0" bIns="0" rtlCol="0" anchor="ctr"/>
          <a:lstStyle/>
          <a:p>
            <a:pPr indent="0" marL="0">
              <a:buNone/>
            </a:pPr>
            <a:r>
              <a:rPr lang="en-US" sz="1600" b="1" dirty="0">
                <a:solidFill>
                  <a:srgbClr val="2A2A2A"/>
                </a:solidFill>
                <a:latin typeface="Georgia" pitchFamily="34" charset="0"/>
                <a:ea typeface="Georgia" pitchFamily="34" charset="-122"/>
                <a:cs typeface="Georgia" pitchFamily="34" charset="-120"/>
              </a:rPr>
              <a:t>Line of sight</a:t>
            </a:r>
            <a:endParaRPr lang="en-US" sz="1600" dirty="0"/>
          </a:p>
        </p:txBody>
      </p:sp>
      <p:sp>
        <p:nvSpPr>
          <p:cNvPr id="9" name="Text 7"/>
          <p:cNvSpPr/>
          <p:nvPr/>
        </p:nvSpPr>
        <p:spPr>
          <a:xfrm>
            <a:off x="777240" y="3200400"/>
            <a:ext cx="3383280" cy="91440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Can the node see the next node? Trees, buildings, walls all block LoRa signal.</a:t>
            </a:r>
            <a:endParaRPr lang="en-US" sz="1200" dirty="0"/>
          </a:p>
        </p:txBody>
      </p:sp>
      <p:sp>
        <p:nvSpPr>
          <p:cNvPr id="10" name="Shape 8"/>
          <p:cNvSpPr/>
          <p:nvPr/>
        </p:nvSpPr>
        <p:spPr>
          <a:xfrm>
            <a:off x="4343400" y="2743200"/>
            <a:ext cx="3703320" cy="1417320"/>
          </a:xfrm>
          <a:prstGeom prst="rect">
            <a:avLst/>
          </a:prstGeom>
          <a:solidFill>
            <a:srgbClr val="F5F2EA"/>
          </a:solidFill>
          <a:ln w="6350">
            <a:solidFill>
              <a:srgbClr val="E8E2D2"/>
            </a:solidFill>
            <a:prstDash val="solid"/>
          </a:ln>
        </p:spPr>
      </p:sp>
      <p:sp>
        <p:nvSpPr>
          <p:cNvPr id="11" name="Shape 9"/>
          <p:cNvSpPr/>
          <p:nvPr/>
        </p:nvSpPr>
        <p:spPr>
          <a:xfrm>
            <a:off x="4343400" y="2743200"/>
            <a:ext cx="73152" cy="1417320"/>
          </a:xfrm>
          <a:prstGeom prst="rect">
            <a:avLst/>
          </a:prstGeom>
          <a:solidFill>
            <a:srgbClr val="C5E886"/>
          </a:solidFill>
          <a:ln w="12700">
            <a:solidFill>
              <a:srgbClr val="C5E886"/>
            </a:solidFill>
            <a:prstDash val="solid"/>
          </a:ln>
        </p:spPr>
      </p:sp>
      <p:sp>
        <p:nvSpPr>
          <p:cNvPr id="12" name="Text 10"/>
          <p:cNvSpPr/>
          <p:nvPr/>
        </p:nvSpPr>
        <p:spPr>
          <a:xfrm>
            <a:off x="4572000" y="2834640"/>
            <a:ext cx="3383280" cy="365760"/>
          </a:xfrm>
          <a:prstGeom prst="rect">
            <a:avLst/>
          </a:prstGeom>
          <a:noFill/>
          <a:ln/>
        </p:spPr>
        <p:txBody>
          <a:bodyPr wrap="square" lIns="0" tIns="0" rIns="0" bIns="0" rtlCol="0" anchor="ctr"/>
          <a:lstStyle/>
          <a:p>
            <a:pPr indent="0" marL="0">
              <a:buNone/>
            </a:pPr>
            <a:r>
              <a:rPr lang="en-US" sz="1600" b="1" dirty="0">
                <a:solidFill>
                  <a:srgbClr val="2A2A2A"/>
                </a:solidFill>
                <a:latin typeface="Georgia" pitchFamily="34" charset="0"/>
                <a:ea typeface="Georgia" pitchFamily="34" charset="-122"/>
                <a:cs typeface="Georgia" pitchFamily="34" charset="-120"/>
              </a:rPr>
              <a:t>Solar exposure</a:t>
            </a:r>
            <a:endParaRPr lang="en-US" sz="1600" dirty="0"/>
          </a:p>
        </p:txBody>
      </p:sp>
      <p:sp>
        <p:nvSpPr>
          <p:cNvPr id="13" name="Text 11"/>
          <p:cNvSpPr/>
          <p:nvPr/>
        </p:nvSpPr>
        <p:spPr>
          <a:xfrm>
            <a:off x="4572000" y="3200400"/>
            <a:ext cx="3383280" cy="91440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How many hours of direct sun, and from which direction? South facing is best in the UK.</a:t>
            </a:r>
            <a:endParaRPr lang="en-US" sz="1200" dirty="0"/>
          </a:p>
        </p:txBody>
      </p:sp>
      <p:sp>
        <p:nvSpPr>
          <p:cNvPr id="14" name="Shape 12"/>
          <p:cNvSpPr/>
          <p:nvPr/>
        </p:nvSpPr>
        <p:spPr>
          <a:xfrm>
            <a:off x="8138160" y="2743200"/>
            <a:ext cx="3703320" cy="1417320"/>
          </a:xfrm>
          <a:prstGeom prst="rect">
            <a:avLst/>
          </a:prstGeom>
          <a:solidFill>
            <a:srgbClr val="F5F2EA"/>
          </a:solidFill>
          <a:ln w="6350">
            <a:solidFill>
              <a:srgbClr val="E8E2D2"/>
            </a:solidFill>
            <a:prstDash val="solid"/>
          </a:ln>
        </p:spPr>
      </p:sp>
      <p:sp>
        <p:nvSpPr>
          <p:cNvPr id="15" name="Shape 13"/>
          <p:cNvSpPr/>
          <p:nvPr/>
        </p:nvSpPr>
        <p:spPr>
          <a:xfrm>
            <a:off x="8138160" y="2743200"/>
            <a:ext cx="73152" cy="1417320"/>
          </a:xfrm>
          <a:prstGeom prst="rect">
            <a:avLst/>
          </a:prstGeom>
          <a:solidFill>
            <a:srgbClr val="C5E886"/>
          </a:solidFill>
          <a:ln w="12700">
            <a:solidFill>
              <a:srgbClr val="C5E886"/>
            </a:solidFill>
            <a:prstDash val="solid"/>
          </a:ln>
        </p:spPr>
      </p:sp>
      <p:sp>
        <p:nvSpPr>
          <p:cNvPr id="16" name="Text 14"/>
          <p:cNvSpPr/>
          <p:nvPr/>
        </p:nvSpPr>
        <p:spPr>
          <a:xfrm>
            <a:off x="8366760" y="2834640"/>
            <a:ext cx="3383280" cy="365760"/>
          </a:xfrm>
          <a:prstGeom prst="rect">
            <a:avLst/>
          </a:prstGeom>
          <a:noFill/>
          <a:ln/>
        </p:spPr>
        <p:txBody>
          <a:bodyPr wrap="square" lIns="0" tIns="0" rIns="0" bIns="0" rtlCol="0" anchor="ctr"/>
          <a:lstStyle/>
          <a:p>
            <a:pPr indent="0" marL="0">
              <a:buNone/>
            </a:pPr>
            <a:r>
              <a:rPr lang="en-US" sz="1600" b="1" dirty="0">
                <a:solidFill>
                  <a:srgbClr val="2A2A2A"/>
                </a:solidFill>
                <a:latin typeface="Georgia" pitchFamily="34" charset="0"/>
                <a:ea typeface="Georgia" pitchFamily="34" charset="-122"/>
                <a:cs typeface="Georgia" pitchFamily="34" charset="-120"/>
              </a:rPr>
              <a:t>Height and mounting</a:t>
            </a:r>
            <a:endParaRPr lang="en-US" sz="1600" dirty="0"/>
          </a:p>
        </p:txBody>
      </p:sp>
      <p:sp>
        <p:nvSpPr>
          <p:cNvPr id="17" name="Text 15"/>
          <p:cNvSpPr/>
          <p:nvPr/>
        </p:nvSpPr>
        <p:spPr>
          <a:xfrm>
            <a:off x="8366760" y="3200400"/>
            <a:ext cx="3383280" cy="91440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Is there something to fix it to? Wall, fence, pole, tree. How high off the ground.</a:t>
            </a:r>
            <a:endParaRPr lang="en-US" sz="1200" dirty="0"/>
          </a:p>
        </p:txBody>
      </p:sp>
      <p:sp>
        <p:nvSpPr>
          <p:cNvPr id="18" name="Shape 16"/>
          <p:cNvSpPr/>
          <p:nvPr/>
        </p:nvSpPr>
        <p:spPr>
          <a:xfrm>
            <a:off x="548640" y="4297680"/>
            <a:ext cx="3703320" cy="1417320"/>
          </a:xfrm>
          <a:prstGeom prst="rect">
            <a:avLst/>
          </a:prstGeom>
          <a:solidFill>
            <a:srgbClr val="F5F2EA"/>
          </a:solidFill>
          <a:ln w="6350">
            <a:solidFill>
              <a:srgbClr val="E8E2D2"/>
            </a:solidFill>
            <a:prstDash val="solid"/>
          </a:ln>
        </p:spPr>
      </p:sp>
      <p:sp>
        <p:nvSpPr>
          <p:cNvPr id="19" name="Shape 17"/>
          <p:cNvSpPr/>
          <p:nvPr/>
        </p:nvSpPr>
        <p:spPr>
          <a:xfrm>
            <a:off x="548640" y="4297680"/>
            <a:ext cx="73152" cy="1417320"/>
          </a:xfrm>
          <a:prstGeom prst="rect">
            <a:avLst/>
          </a:prstGeom>
          <a:solidFill>
            <a:srgbClr val="C5E886"/>
          </a:solidFill>
          <a:ln w="12700">
            <a:solidFill>
              <a:srgbClr val="C5E886"/>
            </a:solidFill>
            <a:prstDash val="solid"/>
          </a:ln>
        </p:spPr>
      </p:sp>
      <p:sp>
        <p:nvSpPr>
          <p:cNvPr id="20" name="Text 18"/>
          <p:cNvSpPr/>
          <p:nvPr/>
        </p:nvSpPr>
        <p:spPr>
          <a:xfrm>
            <a:off x="777240" y="4389120"/>
            <a:ext cx="3383280" cy="365760"/>
          </a:xfrm>
          <a:prstGeom prst="rect">
            <a:avLst/>
          </a:prstGeom>
          <a:noFill/>
          <a:ln/>
        </p:spPr>
        <p:txBody>
          <a:bodyPr wrap="square" lIns="0" tIns="0" rIns="0" bIns="0" rtlCol="0" anchor="ctr"/>
          <a:lstStyle/>
          <a:p>
            <a:pPr indent="0" marL="0">
              <a:buNone/>
            </a:pPr>
            <a:r>
              <a:rPr lang="en-US" sz="1600" b="1" dirty="0">
                <a:solidFill>
                  <a:srgbClr val="2A2A2A"/>
                </a:solidFill>
                <a:latin typeface="Georgia" pitchFamily="34" charset="0"/>
                <a:ea typeface="Georgia" pitchFamily="34" charset="-122"/>
                <a:cs typeface="Georgia" pitchFamily="34" charset="-120"/>
              </a:rPr>
              <a:t>Weather exposure</a:t>
            </a:r>
            <a:endParaRPr lang="en-US" sz="1600" dirty="0"/>
          </a:p>
        </p:txBody>
      </p:sp>
      <p:sp>
        <p:nvSpPr>
          <p:cNvPr id="21" name="Text 19"/>
          <p:cNvSpPr/>
          <p:nvPr/>
        </p:nvSpPr>
        <p:spPr>
          <a:xfrm>
            <a:off x="777240" y="4754880"/>
            <a:ext cx="3383280" cy="91440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Wind, rain, shelter. Is the spot exposed or protected? Are we asking too much of the enclosure.</a:t>
            </a:r>
            <a:endParaRPr lang="en-US" sz="1200" dirty="0"/>
          </a:p>
        </p:txBody>
      </p:sp>
      <p:sp>
        <p:nvSpPr>
          <p:cNvPr id="22" name="Shape 20"/>
          <p:cNvSpPr/>
          <p:nvPr/>
        </p:nvSpPr>
        <p:spPr>
          <a:xfrm>
            <a:off x="4343400" y="4297680"/>
            <a:ext cx="3703320" cy="1417320"/>
          </a:xfrm>
          <a:prstGeom prst="rect">
            <a:avLst/>
          </a:prstGeom>
          <a:solidFill>
            <a:srgbClr val="F5F2EA"/>
          </a:solidFill>
          <a:ln w="6350">
            <a:solidFill>
              <a:srgbClr val="E8E2D2"/>
            </a:solidFill>
            <a:prstDash val="solid"/>
          </a:ln>
        </p:spPr>
      </p:sp>
      <p:sp>
        <p:nvSpPr>
          <p:cNvPr id="23" name="Shape 21"/>
          <p:cNvSpPr/>
          <p:nvPr/>
        </p:nvSpPr>
        <p:spPr>
          <a:xfrm>
            <a:off x="4343400" y="4297680"/>
            <a:ext cx="73152" cy="1417320"/>
          </a:xfrm>
          <a:prstGeom prst="rect">
            <a:avLst/>
          </a:prstGeom>
          <a:solidFill>
            <a:srgbClr val="C5E886"/>
          </a:solidFill>
          <a:ln w="12700">
            <a:solidFill>
              <a:srgbClr val="C5E886"/>
            </a:solidFill>
            <a:prstDash val="solid"/>
          </a:ln>
        </p:spPr>
      </p:sp>
      <p:sp>
        <p:nvSpPr>
          <p:cNvPr id="24" name="Text 22"/>
          <p:cNvSpPr/>
          <p:nvPr/>
        </p:nvSpPr>
        <p:spPr>
          <a:xfrm>
            <a:off x="4572000" y="4389120"/>
            <a:ext cx="3383280" cy="365760"/>
          </a:xfrm>
          <a:prstGeom prst="rect">
            <a:avLst/>
          </a:prstGeom>
          <a:noFill/>
          <a:ln/>
        </p:spPr>
        <p:txBody>
          <a:bodyPr wrap="square" lIns="0" tIns="0" rIns="0" bIns="0" rtlCol="0" anchor="ctr"/>
          <a:lstStyle/>
          <a:p>
            <a:pPr indent="0" marL="0">
              <a:buNone/>
            </a:pPr>
            <a:r>
              <a:rPr lang="en-US" sz="1600" b="1" dirty="0">
                <a:solidFill>
                  <a:srgbClr val="2A2A2A"/>
                </a:solidFill>
                <a:latin typeface="Georgia" pitchFamily="34" charset="0"/>
                <a:ea typeface="Georgia" pitchFamily="34" charset="-122"/>
                <a:cs typeface="Georgia" pitchFamily="34" charset="-120"/>
              </a:rPr>
              <a:t>Stewardship</a:t>
            </a:r>
            <a:endParaRPr lang="en-US" sz="1600" dirty="0"/>
          </a:p>
        </p:txBody>
      </p:sp>
      <p:sp>
        <p:nvSpPr>
          <p:cNvPr id="25" name="Text 23"/>
          <p:cNvSpPr/>
          <p:nvPr/>
        </p:nvSpPr>
        <p:spPr>
          <a:xfrm>
            <a:off x="4572000" y="4754880"/>
            <a:ext cx="3383280" cy="91440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Who passes by this spot? Who could keep an eye on it? Is it likely to be tampered with.</a:t>
            </a:r>
            <a:endParaRPr lang="en-US" sz="1200" dirty="0"/>
          </a:p>
        </p:txBody>
      </p:sp>
      <p:sp>
        <p:nvSpPr>
          <p:cNvPr id="26" name="Shape 24"/>
          <p:cNvSpPr/>
          <p:nvPr/>
        </p:nvSpPr>
        <p:spPr>
          <a:xfrm>
            <a:off x="8138160" y="4297680"/>
            <a:ext cx="3703320" cy="1417320"/>
          </a:xfrm>
          <a:prstGeom prst="rect">
            <a:avLst/>
          </a:prstGeom>
          <a:solidFill>
            <a:srgbClr val="F5F2EA"/>
          </a:solidFill>
          <a:ln w="6350">
            <a:solidFill>
              <a:srgbClr val="E8E2D2"/>
            </a:solidFill>
            <a:prstDash val="solid"/>
          </a:ln>
        </p:spPr>
      </p:sp>
      <p:sp>
        <p:nvSpPr>
          <p:cNvPr id="27" name="Shape 25"/>
          <p:cNvSpPr/>
          <p:nvPr/>
        </p:nvSpPr>
        <p:spPr>
          <a:xfrm>
            <a:off x="8138160" y="4297680"/>
            <a:ext cx="73152" cy="1417320"/>
          </a:xfrm>
          <a:prstGeom prst="rect">
            <a:avLst/>
          </a:prstGeom>
          <a:solidFill>
            <a:srgbClr val="C5E886"/>
          </a:solidFill>
          <a:ln w="12700">
            <a:solidFill>
              <a:srgbClr val="C5E886"/>
            </a:solidFill>
            <a:prstDash val="solid"/>
          </a:ln>
        </p:spPr>
      </p:sp>
      <p:sp>
        <p:nvSpPr>
          <p:cNvPr id="28" name="Text 26"/>
          <p:cNvSpPr/>
          <p:nvPr/>
        </p:nvSpPr>
        <p:spPr>
          <a:xfrm>
            <a:off x="8366760" y="4389120"/>
            <a:ext cx="3383280" cy="365760"/>
          </a:xfrm>
          <a:prstGeom prst="rect">
            <a:avLst/>
          </a:prstGeom>
          <a:noFill/>
          <a:ln/>
        </p:spPr>
        <p:txBody>
          <a:bodyPr wrap="square" lIns="0" tIns="0" rIns="0" bIns="0" rtlCol="0" anchor="ctr"/>
          <a:lstStyle/>
          <a:p>
            <a:pPr indent="0" marL="0">
              <a:buNone/>
            </a:pPr>
            <a:r>
              <a:rPr lang="en-US" sz="1600" b="1" dirty="0">
                <a:solidFill>
                  <a:srgbClr val="2A2A2A"/>
                </a:solidFill>
                <a:latin typeface="Georgia" pitchFamily="34" charset="0"/>
                <a:ea typeface="Georgia" pitchFamily="34" charset="-122"/>
                <a:cs typeface="Georgia" pitchFamily="34" charset="-120"/>
              </a:rPr>
              <a:t>Permission</a:t>
            </a:r>
            <a:endParaRPr lang="en-US" sz="1600" dirty="0"/>
          </a:p>
        </p:txBody>
      </p:sp>
      <p:sp>
        <p:nvSpPr>
          <p:cNvPr id="29" name="Text 27"/>
          <p:cNvSpPr/>
          <p:nvPr/>
        </p:nvSpPr>
        <p:spPr>
          <a:xfrm>
            <a:off x="8366760" y="4754880"/>
            <a:ext cx="3383280" cy="91440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Whose land or wall is it? Council, private, university, community. Who do we ask.</a:t>
            </a:r>
            <a:endParaRPr lang="en-US" sz="1200" dirty="0"/>
          </a:p>
        </p:txBody>
      </p:sp>
      <p:sp>
        <p:nvSpPr>
          <p:cNvPr id="30" name="Text 28"/>
          <p:cNvSpPr/>
          <p:nvPr/>
        </p:nvSpPr>
        <p:spPr>
          <a:xfrm>
            <a:off x="548640" y="5852160"/>
            <a:ext cx="10972800" cy="365760"/>
          </a:xfrm>
          <a:prstGeom prst="rect">
            <a:avLst/>
          </a:prstGeom>
          <a:noFill/>
          <a:ln/>
        </p:spPr>
        <p:txBody>
          <a:bodyPr wrap="square" lIns="0" tIns="0" rIns="0" bIns="0" rtlCol="0" anchor="ctr"/>
          <a:lstStyle/>
          <a:p>
            <a:pPr indent="0" marL="0">
              <a:buNone/>
            </a:pPr>
            <a:r>
              <a:rPr lang="en-US" sz="1400" i="1" dirty="0">
                <a:solidFill>
                  <a:srgbClr val="C76FBA"/>
                </a:solidFill>
                <a:latin typeface="Calibri" pitchFamily="34" charset="0"/>
                <a:ea typeface="Calibri" pitchFamily="34" charset="-122"/>
                <a:cs typeface="Calibri" pitchFamily="34" charset="-120"/>
              </a:rPr>
              <a:t>Plus one Site Planner run before we leave October Books, and an RSSI reading where we can get it.</a:t>
            </a:r>
            <a:endParaRPr lang="en-US" sz="1400" dirty="0"/>
          </a:p>
        </p:txBody>
      </p:sp>
      <p:sp>
        <p:nvSpPr>
          <p:cNvPr id="31" name="Text 2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32" name="Text 30"/>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 of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8A0D8"/>
          </a:solidFill>
          <a:ln w="12700">
            <a:solidFill>
              <a:srgbClr val="E8A0D8"/>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THE REFERENCE NODE</a:t>
            </a:r>
            <a:endParaRPr lang="en-US" sz="1100" dirty="0"/>
          </a:p>
        </p:txBody>
      </p:sp>
      <p:sp>
        <p:nvSpPr>
          <p:cNvPr id="4" name="Text 2"/>
          <p:cNvSpPr/>
          <p:nvPr/>
        </p:nvSpPr>
        <p:spPr>
          <a:xfrm>
            <a:off x="548640" y="914400"/>
            <a:ext cx="10972800" cy="822960"/>
          </a:xfrm>
          <a:prstGeom prst="rect">
            <a:avLst/>
          </a:prstGeom>
          <a:noFill/>
          <a:ln/>
        </p:spPr>
        <p:txBody>
          <a:bodyPr wrap="square" lIns="0" tIns="0" rIns="0" bIns="0" rtlCol="0" anchor="ctr"/>
          <a:lstStyle/>
          <a:p>
            <a:pPr indent="0" marL="0">
              <a:buNone/>
            </a:pPr>
            <a:r>
              <a:rPr lang="en-US" sz="3600" b="1" dirty="0">
                <a:solidFill>
                  <a:srgbClr val="2A2A2A"/>
                </a:solidFill>
                <a:latin typeface="Georgia" pitchFamily="34" charset="0"/>
                <a:ea typeface="Georgia" pitchFamily="34" charset="-122"/>
                <a:cs typeface="Georgia" pitchFamily="34" charset="-120"/>
              </a:rPr>
              <a:t>One node, set up properly, on the day.</a:t>
            </a:r>
            <a:endParaRPr lang="en-US" sz="3600" dirty="0"/>
          </a:p>
        </p:txBody>
      </p:sp>
      <p:sp>
        <p:nvSpPr>
          <p:cNvPr id="5" name="Text 3"/>
          <p:cNvSpPr/>
          <p:nvPr/>
        </p:nvSpPr>
        <p:spPr>
          <a:xfrm>
            <a:off x="548640" y="1828800"/>
            <a:ext cx="10972800" cy="640080"/>
          </a:xfrm>
          <a:prstGeom prst="rect">
            <a:avLst/>
          </a:prstGeom>
          <a:noFill/>
          <a:ln/>
        </p:spPr>
        <p:txBody>
          <a:bodyPr wrap="square" lIns="0" tIns="0" rIns="0" bIns="0" rtlCol="0" anchor="ctr"/>
          <a:lstStyle/>
          <a:p>
            <a:pPr indent="0" marL="0">
              <a:buNone/>
            </a:pPr>
            <a:r>
              <a:rPr lang="en-US" sz="1800" i="1" dirty="0">
                <a:solidFill>
                  <a:srgbClr val="6B6B6B"/>
                </a:solidFill>
                <a:latin typeface="Calibri" pitchFamily="34" charset="0"/>
                <a:ea typeface="Calibri" pitchFamily="34" charset="-122"/>
                <a:cs typeface="Calibri" pitchFamily="34" charset="-120"/>
              </a:rPr>
              <a:t>So you've seen each part go together and know what next year's deployment is actually asking of a site.</a:t>
            </a:r>
            <a:endParaRPr lang="en-US" sz="1800" dirty="0"/>
          </a:p>
        </p:txBody>
      </p:sp>
      <p:sp>
        <p:nvSpPr>
          <p:cNvPr id="6" name="Shape 4"/>
          <p:cNvSpPr/>
          <p:nvPr/>
        </p:nvSpPr>
        <p:spPr>
          <a:xfrm>
            <a:off x="548640" y="2788920"/>
            <a:ext cx="274320" cy="274320"/>
          </a:xfrm>
          <a:prstGeom prst="ellipse">
            <a:avLst/>
          </a:prstGeom>
          <a:solidFill>
            <a:srgbClr val="E8A0D8"/>
          </a:solidFill>
          <a:ln w="12700">
            <a:solidFill>
              <a:srgbClr val="E8A0D8"/>
            </a:solidFill>
            <a:prstDash val="solid"/>
          </a:ln>
        </p:spPr>
      </p:sp>
      <p:sp>
        <p:nvSpPr>
          <p:cNvPr id="7" name="Text 5"/>
          <p:cNvSpPr/>
          <p:nvPr/>
        </p:nvSpPr>
        <p:spPr>
          <a:xfrm>
            <a:off x="914400" y="2651760"/>
            <a:ext cx="5120640" cy="274320"/>
          </a:xfrm>
          <a:prstGeom prst="rect">
            <a:avLst/>
          </a:prstGeom>
          <a:noFill/>
          <a:ln/>
        </p:spPr>
        <p:txBody>
          <a:bodyPr wrap="square" lIns="0" tIns="0" rIns="0" bIns="0" rtlCol="0" anchor="ctr"/>
          <a:lstStyle/>
          <a:p>
            <a:pPr indent="0" marL="0">
              <a:buNone/>
            </a:pPr>
            <a:r>
              <a:rPr lang="en-US" sz="1400" b="1" dirty="0">
                <a:solidFill>
                  <a:srgbClr val="2A2A2A"/>
                </a:solidFill>
                <a:latin typeface="Calibri" pitchFamily="34" charset="0"/>
                <a:ea typeface="Calibri" pitchFamily="34" charset="-122"/>
                <a:cs typeface="Calibri" pitchFamily="34" charset="-120"/>
              </a:rPr>
              <a:t>Soil</a:t>
            </a:r>
            <a:endParaRPr lang="en-US" sz="1400" dirty="0"/>
          </a:p>
        </p:txBody>
      </p:sp>
      <p:sp>
        <p:nvSpPr>
          <p:cNvPr id="8" name="Text 6"/>
          <p:cNvSpPr/>
          <p:nvPr/>
        </p:nvSpPr>
        <p:spPr>
          <a:xfrm>
            <a:off x="914400" y="2926080"/>
            <a:ext cx="512064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For the plant pot base, weight, grounding.</a:t>
            </a:r>
            <a:endParaRPr lang="en-US" sz="1200" dirty="0"/>
          </a:p>
        </p:txBody>
      </p:sp>
      <p:sp>
        <p:nvSpPr>
          <p:cNvPr id="9" name="Shape 7"/>
          <p:cNvSpPr/>
          <p:nvPr/>
        </p:nvSpPr>
        <p:spPr>
          <a:xfrm>
            <a:off x="6309360" y="2788920"/>
            <a:ext cx="274320" cy="274320"/>
          </a:xfrm>
          <a:prstGeom prst="ellipse">
            <a:avLst/>
          </a:prstGeom>
          <a:solidFill>
            <a:srgbClr val="E8A0D8"/>
          </a:solidFill>
          <a:ln w="12700">
            <a:solidFill>
              <a:srgbClr val="E8A0D8"/>
            </a:solidFill>
            <a:prstDash val="solid"/>
          </a:ln>
        </p:spPr>
      </p:sp>
      <p:sp>
        <p:nvSpPr>
          <p:cNvPr id="10" name="Text 8"/>
          <p:cNvSpPr/>
          <p:nvPr/>
        </p:nvSpPr>
        <p:spPr>
          <a:xfrm>
            <a:off x="6675120" y="2651760"/>
            <a:ext cx="5120640" cy="274320"/>
          </a:xfrm>
          <a:prstGeom prst="rect">
            <a:avLst/>
          </a:prstGeom>
          <a:noFill/>
          <a:ln/>
        </p:spPr>
        <p:txBody>
          <a:bodyPr wrap="square" lIns="0" tIns="0" rIns="0" bIns="0" rtlCol="0" anchor="ctr"/>
          <a:lstStyle/>
          <a:p>
            <a:pPr indent="0" marL="0">
              <a:buNone/>
            </a:pPr>
            <a:r>
              <a:rPr lang="en-US" sz="1400" b="1" dirty="0">
                <a:solidFill>
                  <a:srgbClr val="2A2A2A"/>
                </a:solidFill>
                <a:latin typeface="Calibri" pitchFamily="34" charset="0"/>
                <a:ea typeface="Calibri" pitchFamily="34" charset="-122"/>
                <a:cs typeface="Calibri" pitchFamily="34" charset="-120"/>
              </a:rPr>
              <a:t>The wigwam</a:t>
            </a:r>
            <a:endParaRPr lang="en-US" sz="1400" dirty="0"/>
          </a:p>
        </p:txBody>
      </p:sp>
      <p:sp>
        <p:nvSpPr>
          <p:cNvPr id="11" name="Text 9"/>
          <p:cNvSpPr/>
          <p:nvPr/>
        </p:nvSpPr>
        <p:spPr>
          <a:xfrm>
            <a:off x="6675120" y="2926080"/>
            <a:ext cx="512064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Wicker structure, holds the node upright and visible.</a:t>
            </a:r>
            <a:endParaRPr lang="en-US" sz="1200" dirty="0"/>
          </a:p>
        </p:txBody>
      </p:sp>
      <p:sp>
        <p:nvSpPr>
          <p:cNvPr id="12" name="Shape 10"/>
          <p:cNvSpPr/>
          <p:nvPr/>
        </p:nvSpPr>
        <p:spPr>
          <a:xfrm>
            <a:off x="548640" y="3520440"/>
            <a:ext cx="274320" cy="274320"/>
          </a:xfrm>
          <a:prstGeom prst="ellipse">
            <a:avLst/>
          </a:prstGeom>
          <a:solidFill>
            <a:srgbClr val="E8A0D8"/>
          </a:solidFill>
          <a:ln w="12700">
            <a:solidFill>
              <a:srgbClr val="E8A0D8"/>
            </a:solidFill>
            <a:prstDash val="solid"/>
          </a:ln>
        </p:spPr>
      </p:sp>
      <p:sp>
        <p:nvSpPr>
          <p:cNvPr id="13" name="Text 11"/>
          <p:cNvSpPr/>
          <p:nvPr/>
        </p:nvSpPr>
        <p:spPr>
          <a:xfrm>
            <a:off x="914400" y="3383280"/>
            <a:ext cx="5120640" cy="274320"/>
          </a:xfrm>
          <a:prstGeom prst="rect">
            <a:avLst/>
          </a:prstGeom>
          <a:noFill/>
          <a:ln/>
        </p:spPr>
        <p:txBody>
          <a:bodyPr wrap="square" lIns="0" tIns="0" rIns="0" bIns="0" rtlCol="0" anchor="ctr"/>
          <a:lstStyle/>
          <a:p>
            <a:pPr indent="0" marL="0">
              <a:buNone/>
            </a:pPr>
            <a:r>
              <a:rPr lang="en-US" sz="1400" b="1" dirty="0">
                <a:solidFill>
                  <a:srgbClr val="2A2A2A"/>
                </a:solidFill>
                <a:latin typeface="Calibri" pitchFamily="34" charset="0"/>
                <a:ea typeface="Calibri" pitchFamily="34" charset="-122"/>
                <a:cs typeface="Calibri" pitchFamily="34" charset="-120"/>
              </a:rPr>
              <a:t>Bee willow structures</a:t>
            </a:r>
            <a:endParaRPr lang="en-US" sz="1400" dirty="0"/>
          </a:p>
        </p:txBody>
      </p:sp>
      <p:sp>
        <p:nvSpPr>
          <p:cNvPr id="14" name="Text 12"/>
          <p:cNvSpPr/>
          <p:nvPr/>
        </p:nvSpPr>
        <p:spPr>
          <a:xfrm>
            <a:off x="914400" y="3657600"/>
            <a:ext cx="512064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Decorative, environmental, mark the node as part of a planted thing.</a:t>
            </a:r>
            <a:endParaRPr lang="en-US" sz="1200" dirty="0"/>
          </a:p>
        </p:txBody>
      </p:sp>
      <p:sp>
        <p:nvSpPr>
          <p:cNvPr id="15" name="Shape 13"/>
          <p:cNvSpPr/>
          <p:nvPr/>
        </p:nvSpPr>
        <p:spPr>
          <a:xfrm>
            <a:off x="6309360" y="3520440"/>
            <a:ext cx="274320" cy="274320"/>
          </a:xfrm>
          <a:prstGeom prst="ellipse">
            <a:avLst/>
          </a:prstGeom>
          <a:solidFill>
            <a:srgbClr val="E8A0D8"/>
          </a:solidFill>
          <a:ln w="12700">
            <a:solidFill>
              <a:srgbClr val="E8A0D8"/>
            </a:solidFill>
            <a:prstDash val="solid"/>
          </a:ln>
        </p:spPr>
      </p:sp>
      <p:sp>
        <p:nvSpPr>
          <p:cNvPr id="16" name="Text 14"/>
          <p:cNvSpPr/>
          <p:nvPr/>
        </p:nvSpPr>
        <p:spPr>
          <a:xfrm>
            <a:off x="6675120" y="3383280"/>
            <a:ext cx="5120640" cy="274320"/>
          </a:xfrm>
          <a:prstGeom prst="rect">
            <a:avLst/>
          </a:prstGeom>
          <a:noFill/>
          <a:ln/>
        </p:spPr>
        <p:txBody>
          <a:bodyPr wrap="square" lIns="0" tIns="0" rIns="0" bIns="0" rtlCol="0" anchor="ctr"/>
          <a:lstStyle/>
          <a:p>
            <a:pPr indent="0" marL="0">
              <a:buNone/>
            </a:pPr>
            <a:r>
              <a:rPr lang="en-US" sz="1400" b="1" dirty="0">
                <a:solidFill>
                  <a:srgbClr val="2A2A2A"/>
                </a:solidFill>
                <a:latin typeface="Calibri" pitchFamily="34" charset="0"/>
                <a:ea typeface="Calibri" pitchFamily="34" charset="-122"/>
                <a:cs typeface="Calibri" pitchFamily="34" charset="-120"/>
              </a:rPr>
              <a:t>PVC tube</a:t>
            </a:r>
            <a:endParaRPr lang="en-US" sz="1400" dirty="0"/>
          </a:p>
        </p:txBody>
      </p:sp>
      <p:sp>
        <p:nvSpPr>
          <p:cNvPr id="17" name="Text 15"/>
          <p:cNvSpPr/>
          <p:nvPr/>
        </p:nvSpPr>
        <p:spPr>
          <a:xfrm>
            <a:off x="6675120" y="3657600"/>
            <a:ext cx="512064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Holds the solar panel up where it can see the sun.</a:t>
            </a:r>
            <a:endParaRPr lang="en-US" sz="1200" dirty="0"/>
          </a:p>
        </p:txBody>
      </p:sp>
      <p:sp>
        <p:nvSpPr>
          <p:cNvPr id="18" name="Shape 16"/>
          <p:cNvSpPr/>
          <p:nvPr/>
        </p:nvSpPr>
        <p:spPr>
          <a:xfrm>
            <a:off x="548640" y="4251960"/>
            <a:ext cx="274320" cy="274320"/>
          </a:xfrm>
          <a:prstGeom prst="ellipse">
            <a:avLst/>
          </a:prstGeom>
          <a:solidFill>
            <a:srgbClr val="E8A0D8"/>
          </a:solidFill>
          <a:ln w="12700">
            <a:solidFill>
              <a:srgbClr val="E8A0D8"/>
            </a:solidFill>
            <a:prstDash val="solid"/>
          </a:ln>
        </p:spPr>
      </p:sp>
      <p:sp>
        <p:nvSpPr>
          <p:cNvPr id="19" name="Text 17"/>
          <p:cNvSpPr/>
          <p:nvPr/>
        </p:nvSpPr>
        <p:spPr>
          <a:xfrm>
            <a:off x="914400" y="4114800"/>
            <a:ext cx="5120640" cy="274320"/>
          </a:xfrm>
          <a:prstGeom prst="rect">
            <a:avLst/>
          </a:prstGeom>
          <a:noFill/>
          <a:ln/>
        </p:spPr>
        <p:txBody>
          <a:bodyPr wrap="square" lIns="0" tIns="0" rIns="0" bIns="0" rtlCol="0" anchor="ctr"/>
          <a:lstStyle/>
          <a:p>
            <a:pPr indent="0" marL="0">
              <a:buNone/>
            </a:pPr>
            <a:r>
              <a:rPr lang="en-US" sz="1400" b="1" dirty="0">
                <a:solidFill>
                  <a:srgbClr val="2A2A2A"/>
                </a:solidFill>
                <a:latin typeface="Calibri" pitchFamily="34" charset="0"/>
                <a:ea typeface="Calibri" pitchFamily="34" charset="-122"/>
                <a:cs typeface="Calibri" pitchFamily="34" charset="-120"/>
              </a:rPr>
              <a:t>Heltec V3 board</a:t>
            </a:r>
            <a:endParaRPr lang="en-US" sz="1400" dirty="0"/>
          </a:p>
        </p:txBody>
      </p:sp>
      <p:sp>
        <p:nvSpPr>
          <p:cNvPr id="20" name="Text 18"/>
          <p:cNvSpPr/>
          <p:nvPr/>
        </p:nvSpPr>
        <p:spPr>
          <a:xfrm>
            <a:off x="914400" y="4389120"/>
            <a:ext cx="512064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LoRa radio, runs Meshtastic, the brain.</a:t>
            </a:r>
            <a:endParaRPr lang="en-US" sz="1200" dirty="0"/>
          </a:p>
        </p:txBody>
      </p:sp>
      <p:sp>
        <p:nvSpPr>
          <p:cNvPr id="21" name="Shape 19"/>
          <p:cNvSpPr/>
          <p:nvPr/>
        </p:nvSpPr>
        <p:spPr>
          <a:xfrm>
            <a:off x="6309360" y="4251960"/>
            <a:ext cx="274320" cy="274320"/>
          </a:xfrm>
          <a:prstGeom prst="ellipse">
            <a:avLst/>
          </a:prstGeom>
          <a:solidFill>
            <a:srgbClr val="E8A0D8"/>
          </a:solidFill>
          <a:ln w="12700">
            <a:solidFill>
              <a:srgbClr val="E8A0D8"/>
            </a:solidFill>
            <a:prstDash val="solid"/>
          </a:ln>
        </p:spPr>
      </p:sp>
      <p:sp>
        <p:nvSpPr>
          <p:cNvPr id="22" name="Text 20"/>
          <p:cNvSpPr/>
          <p:nvPr/>
        </p:nvSpPr>
        <p:spPr>
          <a:xfrm>
            <a:off x="6675120" y="4114800"/>
            <a:ext cx="5120640" cy="274320"/>
          </a:xfrm>
          <a:prstGeom prst="rect">
            <a:avLst/>
          </a:prstGeom>
          <a:noFill/>
          <a:ln/>
        </p:spPr>
        <p:txBody>
          <a:bodyPr wrap="square" lIns="0" tIns="0" rIns="0" bIns="0" rtlCol="0" anchor="ctr"/>
          <a:lstStyle/>
          <a:p>
            <a:pPr indent="0" marL="0">
              <a:buNone/>
            </a:pPr>
            <a:r>
              <a:rPr lang="en-US" sz="1400" b="1" dirty="0">
                <a:solidFill>
                  <a:srgbClr val="2A2A2A"/>
                </a:solidFill>
                <a:latin typeface="Calibri" pitchFamily="34" charset="0"/>
                <a:ea typeface="Calibri" pitchFamily="34" charset="-122"/>
                <a:cs typeface="Calibri" pitchFamily="34" charset="-120"/>
              </a:rPr>
              <a:t>10W solar panel + battery</a:t>
            </a:r>
            <a:endParaRPr lang="en-US" sz="1400" dirty="0"/>
          </a:p>
        </p:txBody>
      </p:sp>
      <p:sp>
        <p:nvSpPr>
          <p:cNvPr id="23" name="Text 21"/>
          <p:cNvSpPr/>
          <p:nvPr/>
        </p:nvSpPr>
        <p:spPr>
          <a:xfrm>
            <a:off x="6675120" y="4389120"/>
            <a:ext cx="512064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Power. Charge controller and LiFePO4 cell.</a:t>
            </a:r>
            <a:endParaRPr lang="en-US" sz="1200" dirty="0"/>
          </a:p>
        </p:txBody>
      </p:sp>
      <p:sp>
        <p:nvSpPr>
          <p:cNvPr id="24" name="Text 22"/>
          <p:cNvSpPr/>
          <p:nvPr/>
        </p:nvSpPr>
        <p:spPr>
          <a:xfrm>
            <a:off x="548640" y="5852160"/>
            <a:ext cx="10972800" cy="365760"/>
          </a:xfrm>
          <a:prstGeom prst="rect">
            <a:avLst/>
          </a:prstGeom>
          <a:noFill/>
          <a:ln/>
        </p:spPr>
        <p:txBody>
          <a:bodyPr wrap="square" lIns="0" tIns="0" rIns="0" bIns="0" rtlCol="0" anchor="ctr"/>
          <a:lstStyle/>
          <a:p>
            <a:pPr indent="0" marL="0">
              <a:buNone/>
            </a:pPr>
            <a:r>
              <a:rPr lang="en-US" sz="1400" i="1" dirty="0">
                <a:solidFill>
                  <a:srgbClr val="C76FBA"/>
                </a:solidFill>
                <a:latin typeface="Calibri" pitchFamily="34" charset="0"/>
                <a:ea typeface="Calibri" pitchFamily="34" charset="-122"/>
                <a:cs typeface="Calibri" pitchFamily="34" charset="-120"/>
              </a:rPr>
              <a:t>We'll leave the reference node at October Books for the rest of the day.</a:t>
            </a:r>
            <a:endParaRPr lang="en-US" sz="1400" dirty="0"/>
          </a:p>
        </p:txBody>
      </p:sp>
      <p:sp>
        <p:nvSpPr>
          <p:cNvPr id="25" name="Text 23"/>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26" name="Text 24"/>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 of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F2C14E"/>
          </a:solidFill>
          <a:ln w="12700">
            <a:solidFill>
              <a:srgbClr val="F2C14E"/>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ROUGH TIMING</a:t>
            </a:r>
            <a:endParaRPr lang="en-US" sz="1100" dirty="0"/>
          </a:p>
        </p:txBody>
      </p:sp>
      <p:sp>
        <p:nvSpPr>
          <p:cNvPr id="4" name="Text 2"/>
          <p:cNvSpPr/>
          <p:nvPr/>
        </p:nvSpPr>
        <p:spPr>
          <a:xfrm>
            <a:off x="548640" y="914400"/>
            <a:ext cx="10972800" cy="731520"/>
          </a:xfrm>
          <a:prstGeom prst="rect">
            <a:avLst/>
          </a:prstGeom>
          <a:noFill/>
          <a:ln/>
        </p:spPr>
        <p:txBody>
          <a:bodyPr wrap="square" lIns="0" tIns="0" rIns="0" bIns="0" rtlCol="0" anchor="ctr"/>
          <a:lstStyle/>
          <a:p>
            <a:pPr indent="0" marL="0">
              <a:buNone/>
            </a:pPr>
            <a:r>
              <a:rPr lang="en-US" sz="4000" b="1" dirty="0">
                <a:solidFill>
                  <a:srgbClr val="2A2A2A"/>
                </a:solidFill>
                <a:latin typeface="Georgia" pitchFamily="34" charset="0"/>
                <a:ea typeface="Georgia" pitchFamily="34" charset="-122"/>
                <a:cs typeface="Georgia" pitchFamily="34" charset="-120"/>
              </a:rPr>
              <a:t>How the day flows</a:t>
            </a:r>
            <a:endParaRPr lang="en-US" sz="4000" dirty="0"/>
          </a:p>
        </p:txBody>
      </p:sp>
      <p:sp>
        <p:nvSpPr>
          <p:cNvPr id="5" name="Shape 3"/>
          <p:cNvSpPr/>
          <p:nvPr/>
        </p:nvSpPr>
        <p:spPr>
          <a:xfrm>
            <a:off x="548640" y="1783080"/>
            <a:ext cx="1371600" cy="822960"/>
          </a:xfrm>
          <a:prstGeom prst="rect">
            <a:avLst/>
          </a:prstGeom>
          <a:solidFill>
            <a:srgbClr val="F2C14E"/>
          </a:solidFill>
          <a:ln w="12700">
            <a:solidFill>
              <a:srgbClr val="F2C14E"/>
            </a:solidFill>
            <a:prstDash val="solid"/>
          </a:ln>
        </p:spPr>
      </p:sp>
      <p:sp>
        <p:nvSpPr>
          <p:cNvPr id="6" name="Text 4"/>
          <p:cNvSpPr/>
          <p:nvPr/>
        </p:nvSpPr>
        <p:spPr>
          <a:xfrm>
            <a:off x="548640" y="1783080"/>
            <a:ext cx="1371600" cy="8229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10:00</a:t>
            </a:r>
            <a:endParaRPr lang="en-US" sz="2200" dirty="0"/>
          </a:p>
        </p:txBody>
      </p:sp>
      <p:sp>
        <p:nvSpPr>
          <p:cNvPr id="7" name="Text 5"/>
          <p:cNvSpPr/>
          <p:nvPr/>
        </p:nvSpPr>
        <p:spPr>
          <a:xfrm>
            <a:off x="2103120" y="1828800"/>
            <a:ext cx="960120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Meet at October Books</a:t>
            </a:r>
            <a:endParaRPr lang="en-US" sz="1800" dirty="0"/>
          </a:p>
        </p:txBody>
      </p:sp>
      <p:sp>
        <p:nvSpPr>
          <p:cNvPr id="8" name="Text 6"/>
          <p:cNvSpPr/>
          <p:nvPr/>
        </p:nvSpPr>
        <p:spPr>
          <a:xfrm>
            <a:off x="2103120" y="2194560"/>
            <a:ext cx="9601200" cy="41148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Short hello, what the place is, set up the reference node together.</a:t>
            </a:r>
            <a:endParaRPr lang="en-US" sz="1300" dirty="0"/>
          </a:p>
        </p:txBody>
      </p:sp>
      <p:sp>
        <p:nvSpPr>
          <p:cNvPr id="9" name="Shape 7"/>
          <p:cNvSpPr/>
          <p:nvPr/>
        </p:nvSpPr>
        <p:spPr>
          <a:xfrm>
            <a:off x="548640" y="2697480"/>
            <a:ext cx="1371600" cy="822960"/>
          </a:xfrm>
          <a:prstGeom prst="rect">
            <a:avLst/>
          </a:prstGeom>
          <a:solidFill>
            <a:srgbClr val="F2C14E"/>
          </a:solidFill>
          <a:ln w="12700">
            <a:solidFill>
              <a:srgbClr val="F2C14E"/>
            </a:solidFill>
            <a:prstDash val="solid"/>
          </a:ln>
        </p:spPr>
      </p:sp>
      <p:sp>
        <p:nvSpPr>
          <p:cNvPr id="10" name="Text 8"/>
          <p:cNvSpPr/>
          <p:nvPr/>
        </p:nvSpPr>
        <p:spPr>
          <a:xfrm>
            <a:off x="548640" y="2697480"/>
            <a:ext cx="1371600" cy="8229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11:00</a:t>
            </a:r>
            <a:endParaRPr lang="en-US" sz="2200" dirty="0"/>
          </a:p>
        </p:txBody>
      </p:sp>
      <p:sp>
        <p:nvSpPr>
          <p:cNvPr id="11" name="Text 9"/>
          <p:cNvSpPr/>
          <p:nvPr/>
        </p:nvSpPr>
        <p:spPr>
          <a:xfrm>
            <a:off x="2103120" y="2743200"/>
            <a:ext cx="960120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Reference node finished</a:t>
            </a:r>
            <a:endParaRPr lang="en-US" sz="1800" dirty="0"/>
          </a:p>
        </p:txBody>
      </p:sp>
      <p:sp>
        <p:nvSpPr>
          <p:cNvPr id="12" name="Text 10"/>
          <p:cNvSpPr/>
          <p:nvPr/>
        </p:nvSpPr>
        <p:spPr>
          <a:xfrm>
            <a:off x="2103120" y="3108960"/>
            <a:ext cx="9601200" cy="41148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Walk through the parts, share photos for documentation.</a:t>
            </a:r>
            <a:endParaRPr lang="en-US" sz="1300" dirty="0"/>
          </a:p>
        </p:txBody>
      </p:sp>
      <p:sp>
        <p:nvSpPr>
          <p:cNvPr id="13" name="Shape 11"/>
          <p:cNvSpPr/>
          <p:nvPr/>
        </p:nvSpPr>
        <p:spPr>
          <a:xfrm>
            <a:off x="548640" y="3611880"/>
            <a:ext cx="1371600" cy="822960"/>
          </a:xfrm>
          <a:prstGeom prst="rect">
            <a:avLst/>
          </a:prstGeom>
          <a:solidFill>
            <a:srgbClr val="F2C14E"/>
          </a:solidFill>
          <a:ln w="12700">
            <a:solidFill>
              <a:srgbClr val="F2C14E"/>
            </a:solidFill>
            <a:prstDash val="solid"/>
          </a:ln>
        </p:spPr>
      </p:sp>
      <p:sp>
        <p:nvSpPr>
          <p:cNvPr id="14" name="Text 12"/>
          <p:cNvSpPr/>
          <p:nvPr/>
        </p:nvSpPr>
        <p:spPr>
          <a:xfrm>
            <a:off x="548640" y="3611880"/>
            <a:ext cx="1371600" cy="8229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11:30</a:t>
            </a:r>
            <a:endParaRPr lang="en-US" sz="2200" dirty="0"/>
          </a:p>
        </p:txBody>
      </p:sp>
      <p:sp>
        <p:nvSpPr>
          <p:cNvPr id="15" name="Text 13"/>
          <p:cNvSpPr/>
          <p:nvPr/>
        </p:nvSpPr>
        <p:spPr>
          <a:xfrm>
            <a:off x="2103120" y="3657600"/>
            <a:ext cx="960120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Walk begins</a:t>
            </a:r>
            <a:endParaRPr lang="en-US" sz="1800" dirty="0"/>
          </a:p>
        </p:txBody>
      </p:sp>
      <p:sp>
        <p:nvSpPr>
          <p:cNvPr id="16" name="Text 14"/>
          <p:cNvSpPr/>
          <p:nvPr/>
        </p:nvSpPr>
        <p:spPr>
          <a:xfrm>
            <a:off x="2103120" y="4023360"/>
            <a:ext cx="9601200" cy="41148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Survey sheets out. Stop at site 1, site 2, site 3, site 4. Notes, photos, sketches.</a:t>
            </a:r>
            <a:endParaRPr lang="en-US" sz="1300" dirty="0"/>
          </a:p>
        </p:txBody>
      </p:sp>
      <p:sp>
        <p:nvSpPr>
          <p:cNvPr id="17" name="Shape 15"/>
          <p:cNvSpPr/>
          <p:nvPr/>
        </p:nvSpPr>
        <p:spPr>
          <a:xfrm>
            <a:off x="548640" y="4526280"/>
            <a:ext cx="1371600" cy="822960"/>
          </a:xfrm>
          <a:prstGeom prst="rect">
            <a:avLst/>
          </a:prstGeom>
          <a:solidFill>
            <a:srgbClr val="F2C14E"/>
          </a:solidFill>
          <a:ln w="12700">
            <a:solidFill>
              <a:srgbClr val="F2C14E"/>
            </a:solidFill>
            <a:prstDash val="solid"/>
          </a:ln>
        </p:spPr>
      </p:sp>
      <p:sp>
        <p:nvSpPr>
          <p:cNvPr id="18" name="Text 16"/>
          <p:cNvSpPr/>
          <p:nvPr/>
        </p:nvSpPr>
        <p:spPr>
          <a:xfrm>
            <a:off x="548640" y="4526280"/>
            <a:ext cx="1371600" cy="8229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13:30</a:t>
            </a:r>
            <a:endParaRPr lang="en-US" sz="2200" dirty="0"/>
          </a:p>
        </p:txBody>
      </p:sp>
      <p:sp>
        <p:nvSpPr>
          <p:cNvPr id="19" name="Text 17"/>
          <p:cNvSpPr/>
          <p:nvPr/>
        </p:nvSpPr>
        <p:spPr>
          <a:xfrm>
            <a:off x="2103120" y="4572000"/>
            <a:ext cx="960120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Arrive at Highfield</a:t>
            </a:r>
            <a:endParaRPr lang="en-US" sz="1800" dirty="0"/>
          </a:p>
        </p:txBody>
      </p:sp>
      <p:sp>
        <p:nvSpPr>
          <p:cNvPr id="20" name="Text 18"/>
          <p:cNvSpPr/>
          <p:nvPr/>
        </p:nvSpPr>
        <p:spPr>
          <a:xfrm>
            <a:off x="2103120" y="4937760"/>
            <a:ext cx="9601200" cy="41148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Last site logged, lunch break if needed.</a:t>
            </a:r>
            <a:endParaRPr lang="en-US" sz="1300" dirty="0"/>
          </a:p>
        </p:txBody>
      </p:sp>
      <p:sp>
        <p:nvSpPr>
          <p:cNvPr id="21" name="Shape 19"/>
          <p:cNvSpPr/>
          <p:nvPr/>
        </p:nvSpPr>
        <p:spPr>
          <a:xfrm>
            <a:off x="548640" y="5440680"/>
            <a:ext cx="1371600" cy="822960"/>
          </a:xfrm>
          <a:prstGeom prst="rect">
            <a:avLst/>
          </a:prstGeom>
          <a:solidFill>
            <a:srgbClr val="F2C14E"/>
          </a:solidFill>
          <a:ln w="12700">
            <a:solidFill>
              <a:srgbClr val="F2C14E"/>
            </a:solidFill>
            <a:prstDash val="solid"/>
          </a:ln>
        </p:spPr>
      </p:sp>
      <p:sp>
        <p:nvSpPr>
          <p:cNvPr id="22" name="Text 20"/>
          <p:cNvSpPr/>
          <p:nvPr/>
        </p:nvSpPr>
        <p:spPr>
          <a:xfrm>
            <a:off x="548640" y="5440680"/>
            <a:ext cx="1371600" cy="822960"/>
          </a:xfrm>
          <a:prstGeom prst="rect">
            <a:avLst/>
          </a:prstGeom>
          <a:noFill/>
          <a:ln/>
        </p:spPr>
        <p:txBody>
          <a:bodyPr wrap="square" lIns="0" tIns="0" rIns="0" bIns="0" rtlCol="0" anchor="ctr"/>
          <a:lstStyle/>
          <a:p>
            <a:pPr algn="ctr" indent="0" marL="0">
              <a:buNone/>
            </a:pPr>
            <a:r>
              <a:rPr lang="en-US" sz="2200" b="1" dirty="0">
                <a:solidFill>
                  <a:srgbClr val="1A1A1A"/>
                </a:solidFill>
                <a:latin typeface="Georgia" pitchFamily="34" charset="0"/>
                <a:ea typeface="Georgia" pitchFamily="34" charset="-122"/>
                <a:cs typeface="Georgia" pitchFamily="34" charset="-120"/>
              </a:rPr>
              <a:t>14:00</a:t>
            </a:r>
            <a:endParaRPr lang="en-US" sz="2200" dirty="0"/>
          </a:p>
        </p:txBody>
      </p:sp>
      <p:sp>
        <p:nvSpPr>
          <p:cNvPr id="23" name="Text 21"/>
          <p:cNvSpPr/>
          <p:nvPr/>
        </p:nvSpPr>
        <p:spPr>
          <a:xfrm>
            <a:off x="2103120" y="5486400"/>
            <a:ext cx="960120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Compare and close</a:t>
            </a:r>
            <a:endParaRPr lang="en-US" sz="1800" dirty="0"/>
          </a:p>
        </p:txBody>
      </p:sp>
      <p:sp>
        <p:nvSpPr>
          <p:cNvPr id="24" name="Text 22"/>
          <p:cNvSpPr/>
          <p:nvPr/>
        </p:nvSpPr>
        <p:spPr>
          <a:xfrm>
            <a:off x="2103120" y="5852160"/>
            <a:ext cx="9601200" cy="41148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Pool the survey sheets, agree the four spots, write a short shared paragraph.</a:t>
            </a:r>
            <a:endParaRPr lang="en-US" sz="1300" dirty="0"/>
          </a:p>
        </p:txBody>
      </p:sp>
      <p:sp>
        <p:nvSpPr>
          <p:cNvPr id="25" name="Text 23"/>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26" name="Text 24"/>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 of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C5E886"/>
          </a:solidFill>
          <a:ln w="12700">
            <a:solidFill>
              <a:srgbClr val="C5E886"/>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WHAT TO BRING</a:t>
            </a:r>
            <a:endParaRPr lang="en-US" sz="1100" dirty="0"/>
          </a:p>
        </p:txBody>
      </p:sp>
      <p:sp>
        <p:nvSpPr>
          <p:cNvPr id="4" name="Text 2"/>
          <p:cNvSpPr/>
          <p:nvPr/>
        </p:nvSpPr>
        <p:spPr>
          <a:xfrm>
            <a:off x="548640" y="914400"/>
            <a:ext cx="10972800" cy="822960"/>
          </a:xfrm>
          <a:prstGeom prst="rect">
            <a:avLst/>
          </a:prstGeom>
          <a:noFill/>
          <a:ln/>
        </p:spPr>
        <p:txBody>
          <a:bodyPr wrap="square" lIns="0" tIns="0" rIns="0" bIns="0" rtlCol="0" anchor="ctr"/>
          <a:lstStyle/>
          <a:p>
            <a:pPr indent="0" marL="0">
              <a:buNone/>
            </a:pPr>
            <a:r>
              <a:rPr lang="en-US" sz="3800" b="1" dirty="0">
                <a:solidFill>
                  <a:srgbClr val="2A2A2A"/>
                </a:solidFill>
                <a:latin typeface="Georgia" pitchFamily="34" charset="0"/>
                <a:ea typeface="Georgia" pitchFamily="34" charset="-122"/>
                <a:cs typeface="Georgia" pitchFamily="34" charset="-120"/>
              </a:rPr>
              <a:t>Yourselves, plus a few things</a:t>
            </a:r>
            <a:endParaRPr lang="en-US" sz="3800" dirty="0"/>
          </a:p>
        </p:txBody>
      </p:sp>
      <p:sp>
        <p:nvSpPr>
          <p:cNvPr id="5" name="Text 3"/>
          <p:cNvSpPr/>
          <p:nvPr/>
        </p:nvSpPr>
        <p:spPr>
          <a:xfrm>
            <a:off x="548640" y="2011680"/>
            <a:ext cx="5486400" cy="365760"/>
          </a:xfrm>
          <a:prstGeom prst="rect">
            <a:avLst/>
          </a:prstGeom>
          <a:noFill/>
          <a:ln/>
        </p:spPr>
        <p:txBody>
          <a:bodyPr wrap="square" lIns="0" tIns="0" rIns="0" bIns="0" rtlCol="0" anchor="ctr"/>
          <a:lstStyle/>
          <a:p>
            <a:pPr indent="0" marL="0">
              <a:buNone/>
            </a:pPr>
            <a:r>
              <a:rPr lang="en-US" sz="1400" b="1" spc="300" kern="0" dirty="0">
                <a:solidFill>
                  <a:srgbClr val="6B6B6B"/>
                </a:solidFill>
                <a:latin typeface="Calibri" pitchFamily="34" charset="0"/>
                <a:ea typeface="Calibri" pitchFamily="34" charset="-122"/>
                <a:cs typeface="Calibri" pitchFamily="34" charset="-120"/>
              </a:rPr>
              <a:t>You bring</a:t>
            </a:r>
            <a:endParaRPr lang="en-US" sz="1400" dirty="0"/>
          </a:p>
        </p:txBody>
      </p:sp>
      <p:sp>
        <p:nvSpPr>
          <p:cNvPr id="6" name="Shape 4"/>
          <p:cNvSpPr/>
          <p:nvPr/>
        </p:nvSpPr>
        <p:spPr>
          <a:xfrm>
            <a:off x="548640" y="2514600"/>
            <a:ext cx="137160" cy="137160"/>
          </a:xfrm>
          <a:prstGeom prst="rect">
            <a:avLst/>
          </a:prstGeom>
          <a:solidFill>
            <a:srgbClr val="C5E886"/>
          </a:solidFill>
          <a:ln w="12700">
            <a:solidFill>
              <a:srgbClr val="C5E886"/>
            </a:solidFill>
            <a:prstDash val="solid"/>
          </a:ln>
        </p:spPr>
      </p:sp>
      <p:sp>
        <p:nvSpPr>
          <p:cNvPr id="7" name="Text 5"/>
          <p:cNvSpPr/>
          <p:nvPr/>
        </p:nvSpPr>
        <p:spPr>
          <a:xfrm>
            <a:off x="868680" y="242316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Phone for photos and a compass app</a:t>
            </a:r>
            <a:endParaRPr lang="en-US" sz="1600" dirty="0"/>
          </a:p>
        </p:txBody>
      </p:sp>
      <p:sp>
        <p:nvSpPr>
          <p:cNvPr id="8" name="Shape 6"/>
          <p:cNvSpPr/>
          <p:nvPr/>
        </p:nvSpPr>
        <p:spPr>
          <a:xfrm>
            <a:off x="548640" y="3154680"/>
            <a:ext cx="137160" cy="137160"/>
          </a:xfrm>
          <a:prstGeom prst="rect">
            <a:avLst/>
          </a:prstGeom>
          <a:solidFill>
            <a:srgbClr val="C5E886"/>
          </a:solidFill>
          <a:ln w="12700">
            <a:solidFill>
              <a:srgbClr val="C5E886"/>
            </a:solidFill>
            <a:prstDash val="solid"/>
          </a:ln>
        </p:spPr>
      </p:sp>
      <p:sp>
        <p:nvSpPr>
          <p:cNvPr id="9" name="Text 7"/>
          <p:cNvSpPr/>
          <p:nvPr/>
        </p:nvSpPr>
        <p:spPr>
          <a:xfrm>
            <a:off x="868680" y="306324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 pen that works in the rain, ideally</a:t>
            </a:r>
            <a:endParaRPr lang="en-US" sz="1600" dirty="0"/>
          </a:p>
        </p:txBody>
      </p:sp>
      <p:sp>
        <p:nvSpPr>
          <p:cNvPr id="10" name="Shape 8"/>
          <p:cNvSpPr/>
          <p:nvPr/>
        </p:nvSpPr>
        <p:spPr>
          <a:xfrm>
            <a:off x="548640" y="3794760"/>
            <a:ext cx="137160" cy="137160"/>
          </a:xfrm>
          <a:prstGeom prst="rect">
            <a:avLst/>
          </a:prstGeom>
          <a:solidFill>
            <a:srgbClr val="C5E886"/>
          </a:solidFill>
          <a:ln w="12700">
            <a:solidFill>
              <a:srgbClr val="C5E886"/>
            </a:solidFill>
            <a:prstDash val="solid"/>
          </a:ln>
        </p:spPr>
      </p:sp>
      <p:sp>
        <p:nvSpPr>
          <p:cNvPr id="11" name="Text 9"/>
          <p:cNvSpPr/>
          <p:nvPr/>
        </p:nvSpPr>
        <p:spPr>
          <a:xfrm>
            <a:off x="868680" y="370332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 clipboard or hard surface, if you have one</a:t>
            </a:r>
            <a:endParaRPr lang="en-US" sz="1600" dirty="0"/>
          </a:p>
        </p:txBody>
      </p:sp>
      <p:sp>
        <p:nvSpPr>
          <p:cNvPr id="12" name="Shape 10"/>
          <p:cNvSpPr/>
          <p:nvPr/>
        </p:nvSpPr>
        <p:spPr>
          <a:xfrm>
            <a:off x="548640" y="4434840"/>
            <a:ext cx="137160" cy="137160"/>
          </a:xfrm>
          <a:prstGeom prst="rect">
            <a:avLst/>
          </a:prstGeom>
          <a:solidFill>
            <a:srgbClr val="C5E886"/>
          </a:solidFill>
          <a:ln w="12700">
            <a:solidFill>
              <a:srgbClr val="C5E886"/>
            </a:solidFill>
            <a:prstDash val="solid"/>
          </a:ln>
        </p:spPr>
      </p:sp>
      <p:sp>
        <p:nvSpPr>
          <p:cNvPr id="13" name="Text 11"/>
          <p:cNvSpPr/>
          <p:nvPr/>
        </p:nvSpPr>
        <p:spPr>
          <a:xfrm>
            <a:off x="868680" y="434340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Weather appropriate clothes and shoes for walking</a:t>
            </a:r>
            <a:endParaRPr lang="en-US" sz="1600" dirty="0"/>
          </a:p>
        </p:txBody>
      </p:sp>
      <p:sp>
        <p:nvSpPr>
          <p:cNvPr id="14" name="Text 12"/>
          <p:cNvSpPr/>
          <p:nvPr/>
        </p:nvSpPr>
        <p:spPr>
          <a:xfrm>
            <a:off x="6400800" y="2011680"/>
            <a:ext cx="5486400" cy="365760"/>
          </a:xfrm>
          <a:prstGeom prst="rect">
            <a:avLst/>
          </a:prstGeom>
          <a:noFill/>
          <a:ln/>
        </p:spPr>
        <p:txBody>
          <a:bodyPr wrap="square" lIns="0" tIns="0" rIns="0" bIns="0" rtlCol="0" anchor="ctr"/>
          <a:lstStyle/>
          <a:p>
            <a:pPr indent="0" marL="0">
              <a:buNone/>
            </a:pPr>
            <a:r>
              <a:rPr lang="en-US" sz="1400" b="1" spc="300" kern="0" dirty="0">
                <a:solidFill>
                  <a:srgbClr val="6B6B6B"/>
                </a:solidFill>
                <a:latin typeface="Calibri" pitchFamily="34" charset="0"/>
                <a:ea typeface="Calibri" pitchFamily="34" charset="-122"/>
                <a:cs typeface="Calibri" pitchFamily="34" charset="-120"/>
              </a:rPr>
              <a:t>I'll bring</a:t>
            </a:r>
            <a:endParaRPr lang="en-US" sz="1400" dirty="0"/>
          </a:p>
        </p:txBody>
      </p:sp>
      <p:sp>
        <p:nvSpPr>
          <p:cNvPr id="15" name="Shape 13"/>
          <p:cNvSpPr/>
          <p:nvPr/>
        </p:nvSpPr>
        <p:spPr>
          <a:xfrm>
            <a:off x="6400800" y="2514600"/>
            <a:ext cx="137160" cy="137160"/>
          </a:xfrm>
          <a:prstGeom prst="rect">
            <a:avLst/>
          </a:prstGeom>
          <a:solidFill>
            <a:srgbClr val="E8A0D8"/>
          </a:solidFill>
          <a:ln w="12700">
            <a:solidFill>
              <a:srgbClr val="E8A0D8"/>
            </a:solidFill>
            <a:prstDash val="solid"/>
          </a:ln>
        </p:spPr>
      </p:sp>
      <p:sp>
        <p:nvSpPr>
          <p:cNvPr id="16" name="Text 14"/>
          <p:cNvSpPr/>
          <p:nvPr/>
        </p:nvSpPr>
        <p:spPr>
          <a:xfrm>
            <a:off x="6720840" y="242316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The reference node kit (soil, wigwam, willow, PVC, Heltec, panel)</a:t>
            </a:r>
            <a:endParaRPr lang="en-US" sz="1600" dirty="0"/>
          </a:p>
        </p:txBody>
      </p:sp>
      <p:sp>
        <p:nvSpPr>
          <p:cNvPr id="17" name="Shape 15"/>
          <p:cNvSpPr/>
          <p:nvPr/>
        </p:nvSpPr>
        <p:spPr>
          <a:xfrm>
            <a:off x="6400800" y="3154680"/>
            <a:ext cx="137160" cy="137160"/>
          </a:xfrm>
          <a:prstGeom prst="rect">
            <a:avLst/>
          </a:prstGeom>
          <a:solidFill>
            <a:srgbClr val="E8A0D8"/>
          </a:solidFill>
          <a:ln w="12700">
            <a:solidFill>
              <a:srgbClr val="E8A0D8"/>
            </a:solidFill>
            <a:prstDash val="solid"/>
          </a:ln>
        </p:spPr>
      </p:sp>
      <p:sp>
        <p:nvSpPr>
          <p:cNvPr id="18" name="Text 16"/>
          <p:cNvSpPr/>
          <p:nvPr/>
        </p:nvSpPr>
        <p:spPr>
          <a:xfrm>
            <a:off x="6720840" y="306324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Survey sheets, printed</a:t>
            </a:r>
            <a:endParaRPr lang="en-US" sz="1600" dirty="0"/>
          </a:p>
        </p:txBody>
      </p:sp>
      <p:sp>
        <p:nvSpPr>
          <p:cNvPr id="19" name="Shape 17"/>
          <p:cNvSpPr/>
          <p:nvPr/>
        </p:nvSpPr>
        <p:spPr>
          <a:xfrm>
            <a:off x="6400800" y="3794760"/>
            <a:ext cx="137160" cy="137160"/>
          </a:xfrm>
          <a:prstGeom prst="rect">
            <a:avLst/>
          </a:prstGeom>
          <a:solidFill>
            <a:srgbClr val="E8A0D8"/>
          </a:solidFill>
          <a:ln w="12700">
            <a:solidFill>
              <a:srgbClr val="E8A0D8"/>
            </a:solidFill>
            <a:prstDash val="solid"/>
          </a:ln>
        </p:spPr>
      </p:sp>
      <p:sp>
        <p:nvSpPr>
          <p:cNvPr id="20" name="Text 18"/>
          <p:cNvSpPr/>
          <p:nvPr/>
        </p:nvSpPr>
        <p:spPr>
          <a:xfrm>
            <a:off x="6720840" y="370332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 tape measure and a multimeter</a:t>
            </a:r>
            <a:endParaRPr lang="en-US" sz="1600" dirty="0"/>
          </a:p>
        </p:txBody>
      </p:sp>
      <p:sp>
        <p:nvSpPr>
          <p:cNvPr id="21" name="Shape 19"/>
          <p:cNvSpPr/>
          <p:nvPr/>
        </p:nvSpPr>
        <p:spPr>
          <a:xfrm>
            <a:off x="6400800" y="4434840"/>
            <a:ext cx="137160" cy="137160"/>
          </a:xfrm>
          <a:prstGeom prst="rect">
            <a:avLst/>
          </a:prstGeom>
          <a:solidFill>
            <a:srgbClr val="E8A0D8"/>
          </a:solidFill>
          <a:ln w="12700">
            <a:solidFill>
              <a:srgbClr val="E8A0D8"/>
            </a:solidFill>
            <a:prstDash val="solid"/>
          </a:ln>
        </p:spPr>
      </p:sp>
      <p:sp>
        <p:nvSpPr>
          <p:cNvPr id="22" name="Text 20"/>
          <p:cNvSpPr/>
          <p:nvPr/>
        </p:nvSpPr>
        <p:spPr>
          <a:xfrm>
            <a:off x="6720840" y="4343400"/>
            <a:ext cx="512064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Spare batteries, cables, tools</a:t>
            </a:r>
            <a:endParaRPr lang="en-US" sz="1600" dirty="0"/>
          </a:p>
        </p:txBody>
      </p:sp>
      <p:sp>
        <p:nvSpPr>
          <p:cNvPr id="23" name="Text 2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24" name="Text 22"/>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 of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8A0D8"/>
          </a:solidFill>
          <a:ln w="12700">
            <a:solidFill>
              <a:srgbClr val="E8A0D8"/>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HOW THIS CONNECTS</a:t>
            </a:r>
            <a:endParaRPr lang="en-US" sz="1100" dirty="0"/>
          </a:p>
        </p:txBody>
      </p:sp>
      <p:sp>
        <p:nvSpPr>
          <p:cNvPr id="4" name="Text 2"/>
          <p:cNvSpPr/>
          <p:nvPr/>
        </p:nvSpPr>
        <p:spPr>
          <a:xfrm>
            <a:off x="548640" y="914400"/>
            <a:ext cx="10972800" cy="822960"/>
          </a:xfrm>
          <a:prstGeom prst="rect">
            <a:avLst/>
          </a:prstGeom>
          <a:noFill/>
          <a:ln/>
        </p:spPr>
        <p:txBody>
          <a:bodyPr wrap="square" lIns="0" tIns="0" rIns="0" bIns="0" rtlCol="0" anchor="ctr"/>
          <a:lstStyle/>
          <a:p>
            <a:pPr indent="0" marL="0">
              <a:buNone/>
            </a:pPr>
            <a:r>
              <a:rPr lang="en-US" sz="3600" b="1" dirty="0">
                <a:solidFill>
                  <a:srgbClr val="2A2A2A"/>
                </a:solidFill>
                <a:latin typeface="Georgia" pitchFamily="34" charset="0"/>
                <a:ea typeface="Georgia" pitchFamily="34" charset="-122"/>
                <a:cs typeface="Georgia" pitchFamily="34" charset="-120"/>
              </a:rPr>
              <a:t>This day counts toward your portfolio.</a:t>
            </a:r>
            <a:endParaRPr lang="en-US" sz="3600" dirty="0"/>
          </a:p>
        </p:txBody>
      </p:sp>
      <p:sp>
        <p:nvSpPr>
          <p:cNvPr id="5" name="Text 3"/>
          <p:cNvSpPr/>
          <p:nvPr/>
        </p:nvSpPr>
        <p:spPr>
          <a:xfrm>
            <a:off x="548640" y="1920240"/>
            <a:ext cx="10972800" cy="914400"/>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Document it. Treat the walk as fieldwork. The notes, photos, sketches, and the survey sheets are evidence of an embodied, site responsive practice that takes infrastructure seriously.</a:t>
            </a:r>
            <a:endParaRPr lang="en-US" sz="1800" dirty="0"/>
          </a:p>
        </p:txBody>
      </p:sp>
      <p:sp>
        <p:nvSpPr>
          <p:cNvPr id="6" name="Shape 4"/>
          <p:cNvSpPr/>
          <p:nvPr/>
        </p:nvSpPr>
        <p:spPr>
          <a:xfrm>
            <a:off x="548640" y="3200400"/>
            <a:ext cx="73152" cy="777240"/>
          </a:xfrm>
          <a:prstGeom prst="rect">
            <a:avLst/>
          </a:prstGeom>
          <a:solidFill>
            <a:srgbClr val="C76FBA"/>
          </a:solidFill>
          <a:ln w="12700">
            <a:solidFill>
              <a:srgbClr val="C76FBA"/>
            </a:solidFill>
            <a:prstDash val="solid"/>
          </a:ln>
        </p:spPr>
      </p:sp>
      <p:sp>
        <p:nvSpPr>
          <p:cNvPr id="7" name="Text 5"/>
          <p:cNvSpPr/>
          <p:nvPr/>
        </p:nvSpPr>
        <p:spPr>
          <a:xfrm>
            <a:off x="777240" y="3200400"/>
            <a:ext cx="10972800" cy="320040"/>
          </a:xfrm>
          <a:prstGeom prst="rect">
            <a:avLst/>
          </a:prstGeom>
          <a:noFill/>
          <a:ln/>
        </p:spPr>
        <p:txBody>
          <a:bodyPr wrap="square" lIns="0" tIns="0" rIns="0" bIns="0" rtlCol="0" anchor="ctr"/>
          <a:lstStyle/>
          <a:p>
            <a:pPr indent="0" marL="0">
              <a:buNone/>
            </a:pPr>
            <a:r>
              <a:rPr lang="en-US" sz="1700" b="1" dirty="0">
                <a:solidFill>
                  <a:srgbClr val="2A2A2A"/>
                </a:solidFill>
                <a:latin typeface="Georgia" pitchFamily="34" charset="0"/>
                <a:ea typeface="Georgia" pitchFamily="34" charset="-122"/>
                <a:cs typeface="Georgia" pitchFamily="34" charset="-120"/>
              </a:rPr>
              <a:t>Prototyping and iteration</a:t>
            </a:r>
            <a:endParaRPr lang="en-US" sz="1700" dirty="0"/>
          </a:p>
        </p:txBody>
      </p:sp>
      <p:sp>
        <p:nvSpPr>
          <p:cNvPr id="8" name="Text 6"/>
          <p:cNvSpPr/>
          <p:nvPr/>
        </p:nvSpPr>
        <p:spPr>
          <a:xfrm>
            <a:off x="777240" y="3566160"/>
            <a:ext cx="10972800" cy="41148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Section 3. The reference node is a prototype you've helped set up.</a:t>
            </a:r>
            <a:endParaRPr lang="en-US" sz="1400" dirty="0"/>
          </a:p>
        </p:txBody>
      </p:sp>
      <p:sp>
        <p:nvSpPr>
          <p:cNvPr id="9" name="Shape 7"/>
          <p:cNvSpPr/>
          <p:nvPr/>
        </p:nvSpPr>
        <p:spPr>
          <a:xfrm>
            <a:off x="548640" y="4114800"/>
            <a:ext cx="73152" cy="777240"/>
          </a:xfrm>
          <a:prstGeom prst="rect">
            <a:avLst/>
          </a:prstGeom>
          <a:solidFill>
            <a:srgbClr val="C76FBA"/>
          </a:solidFill>
          <a:ln w="12700">
            <a:solidFill>
              <a:srgbClr val="C76FBA"/>
            </a:solidFill>
            <a:prstDash val="solid"/>
          </a:ln>
        </p:spPr>
      </p:sp>
      <p:sp>
        <p:nvSpPr>
          <p:cNvPr id="10" name="Text 8"/>
          <p:cNvSpPr/>
          <p:nvPr/>
        </p:nvSpPr>
        <p:spPr>
          <a:xfrm>
            <a:off x="777240" y="4114800"/>
            <a:ext cx="10972800" cy="320040"/>
          </a:xfrm>
          <a:prstGeom prst="rect">
            <a:avLst/>
          </a:prstGeom>
          <a:noFill/>
          <a:ln/>
        </p:spPr>
        <p:txBody>
          <a:bodyPr wrap="square" lIns="0" tIns="0" rIns="0" bIns="0" rtlCol="0" anchor="ctr"/>
          <a:lstStyle/>
          <a:p>
            <a:pPr indent="0" marL="0">
              <a:buNone/>
            </a:pPr>
            <a:r>
              <a:rPr lang="en-US" sz="1700" b="1" dirty="0">
                <a:solidFill>
                  <a:srgbClr val="2A2A2A"/>
                </a:solidFill>
                <a:latin typeface="Georgia" pitchFamily="34" charset="0"/>
                <a:ea typeface="Georgia" pitchFamily="34" charset="-122"/>
                <a:cs typeface="Georgia" pitchFamily="34" charset="-120"/>
              </a:rPr>
              <a:t>Testing the experience</a:t>
            </a:r>
            <a:endParaRPr lang="en-US" sz="1700" dirty="0"/>
          </a:p>
        </p:txBody>
      </p:sp>
      <p:sp>
        <p:nvSpPr>
          <p:cNvPr id="11" name="Text 9"/>
          <p:cNvSpPr/>
          <p:nvPr/>
        </p:nvSpPr>
        <p:spPr>
          <a:xfrm>
            <a:off x="777240" y="4480560"/>
            <a:ext cx="10972800" cy="41148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Section 4. Reading a site is testing whether an idea actually works in the world.</a:t>
            </a:r>
            <a:endParaRPr lang="en-US" sz="1400" dirty="0"/>
          </a:p>
        </p:txBody>
      </p:sp>
      <p:sp>
        <p:nvSpPr>
          <p:cNvPr id="12" name="Shape 10"/>
          <p:cNvSpPr/>
          <p:nvPr/>
        </p:nvSpPr>
        <p:spPr>
          <a:xfrm>
            <a:off x="548640" y="5029200"/>
            <a:ext cx="73152" cy="777240"/>
          </a:xfrm>
          <a:prstGeom prst="rect">
            <a:avLst/>
          </a:prstGeom>
          <a:solidFill>
            <a:srgbClr val="C76FBA"/>
          </a:solidFill>
          <a:ln w="12700">
            <a:solidFill>
              <a:srgbClr val="C76FBA"/>
            </a:solidFill>
            <a:prstDash val="solid"/>
          </a:ln>
        </p:spPr>
      </p:sp>
      <p:sp>
        <p:nvSpPr>
          <p:cNvPr id="13" name="Text 11"/>
          <p:cNvSpPr/>
          <p:nvPr/>
        </p:nvSpPr>
        <p:spPr>
          <a:xfrm>
            <a:off x="777240" y="5029200"/>
            <a:ext cx="10972800" cy="320040"/>
          </a:xfrm>
          <a:prstGeom prst="rect">
            <a:avLst/>
          </a:prstGeom>
          <a:noFill/>
          <a:ln/>
        </p:spPr>
        <p:txBody>
          <a:bodyPr wrap="square" lIns="0" tIns="0" rIns="0" bIns="0" rtlCol="0" anchor="ctr"/>
          <a:lstStyle/>
          <a:p>
            <a:pPr indent="0" marL="0">
              <a:buNone/>
            </a:pPr>
            <a:r>
              <a:rPr lang="en-US" sz="1700" b="1" dirty="0">
                <a:solidFill>
                  <a:srgbClr val="2A2A2A"/>
                </a:solidFill>
                <a:latin typeface="Georgia" pitchFamily="34" charset="0"/>
                <a:ea typeface="Georgia" pitchFamily="34" charset="-122"/>
                <a:cs typeface="Georgia" pitchFamily="34" charset="-120"/>
              </a:rPr>
              <a:t>Critical reflection</a:t>
            </a:r>
            <a:endParaRPr lang="en-US" sz="1700" dirty="0"/>
          </a:p>
        </p:txBody>
      </p:sp>
      <p:sp>
        <p:nvSpPr>
          <p:cNvPr id="14" name="Text 12"/>
          <p:cNvSpPr/>
          <p:nvPr/>
        </p:nvSpPr>
        <p:spPr>
          <a:xfrm>
            <a:off x="777240" y="5394960"/>
            <a:ext cx="10972800" cy="41148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Section 6. Write about what it meant to slow down and survey before installing anything.</a:t>
            </a:r>
            <a:endParaRPr lang="en-US" sz="1400" dirty="0"/>
          </a:p>
        </p:txBody>
      </p:sp>
      <p:sp>
        <p:nvSpPr>
          <p:cNvPr id="15" name="Text 13"/>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16" name="Text 14"/>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 of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C5E886"/>
          </a:solidFill>
          <a:ln w="12700">
            <a:solidFill>
              <a:srgbClr val="C5E886"/>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indent="0" marL="0">
              <a:buNone/>
            </a:pPr>
            <a:r>
              <a:rPr lang="en-US" sz="1100" b="1" spc="400" kern="0" dirty="0">
                <a:solidFill>
                  <a:srgbClr val="6B6B6B"/>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48640" y="914400"/>
            <a:ext cx="10972800" cy="822960"/>
          </a:xfrm>
          <a:prstGeom prst="rect">
            <a:avLst/>
          </a:prstGeom>
          <a:noFill/>
          <a:ln/>
        </p:spPr>
        <p:txBody>
          <a:bodyPr wrap="square" lIns="0" tIns="0" rIns="0" bIns="0" rtlCol="0" anchor="ctr"/>
          <a:lstStyle/>
          <a:p>
            <a:pPr indent="0" marL="0">
              <a:buNone/>
            </a:pPr>
            <a:r>
              <a:rPr lang="en-US" sz="3600" b="1" dirty="0">
                <a:solidFill>
                  <a:srgbClr val="2A2A2A"/>
                </a:solidFill>
                <a:latin typeface="Georgia" pitchFamily="34" charset="0"/>
                <a:ea typeface="Georgia" pitchFamily="34" charset="-122"/>
                <a:cs typeface="Georgia" pitchFamily="34" charset="-120"/>
              </a:rPr>
              <a:t>Before we leave the room today</a:t>
            </a:r>
            <a:endParaRPr lang="en-US" sz="3600" dirty="0"/>
          </a:p>
        </p:txBody>
      </p:sp>
      <p:sp>
        <p:nvSpPr>
          <p:cNvPr id="5" name="Shape 3"/>
          <p:cNvSpPr/>
          <p:nvPr/>
        </p:nvSpPr>
        <p:spPr>
          <a:xfrm>
            <a:off x="548640" y="2011680"/>
            <a:ext cx="457200" cy="868680"/>
          </a:xfrm>
          <a:prstGeom prst="rect">
            <a:avLst/>
          </a:prstGeom>
          <a:solidFill>
            <a:srgbClr val="C5E886"/>
          </a:solidFill>
          <a:ln w="12700">
            <a:solidFill>
              <a:srgbClr val="C5E886"/>
            </a:solidFill>
            <a:prstDash val="solid"/>
          </a:ln>
        </p:spPr>
      </p:sp>
      <p:sp>
        <p:nvSpPr>
          <p:cNvPr id="6" name="Text 4"/>
          <p:cNvSpPr/>
          <p:nvPr/>
        </p:nvSpPr>
        <p:spPr>
          <a:xfrm>
            <a:off x="548640" y="2011680"/>
            <a:ext cx="457200" cy="86868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01</a:t>
            </a:r>
            <a:endParaRPr lang="en-US" sz="1600" dirty="0"/>
          </a:p>
        </p:txBody>
      </p:sp>
      <p:sp>
        <p:nvSpPr>
          <p:cNvPr id="7" name="Text 5"/>
          <p:cNvSpPr/>
          <p:nvPr/>
        </p:nvSpPr>
        <p:spPr>
          <a:xfrm>
            <a:off x="1280160" y="2011680"/>
            <a:ext cx="1042416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Look at the survey sheet together</a:t>
            </a:r>
            <a:endParaRPr lang="en-US" sz="1800" dirty="0"/>
          </a:p>
        </p:txBody>
      </p:sp>
      <p:sp>
        <p:nvSpPr>
          <p:cNvPr id="8" name="Text 6"/>
          <p:cNvSpPr/>
          <p:nvPr/>
        </p:nvSpPr>
        <p:spPr>
          <a:xfrm>
            <a:off x="1280160" y="2395728"/>
            <a:ext cx="10424160" cy="45720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I'll hand it out, walk through each field so you know what you're recording.</a:t>
            </a:r>
            <a:endParaRPr lang="en-US" sz="1300" dirty="0"/>
          </a:p>
        </p:txBody>
      </p:sp>
      <p:sp>
        <p:nvSpPr>
          <p:cNvPr id="9" name="Shape 7"/>
          <p:cNvSpPr/>
          <p:nvPr/>
        </p:nvSpPr>
        <p:spPr>
          <a:xfrm>
            <a:off x="548640" y="3017520"/>
            <a:ext cx="457200" cy="868680"/>
          </a:xfrm>
          <a:prstGeom prst="rect">
            <a:avLst/>
          </a:prstGeom>
          <a:solidFill>
            <a:srgbClr val="C5E886"/>
          </a:solidFill>
          <a:ln w="12700">
            <a:solidFill>
              <a:srgbClr val="C5E886"/>
            </a:solidFill>
            <a:prstDash val="solid"/>
          </a:ln>
        </p:spPr>
      </p:sp>
      <p:sp>
        <p:nvSpPr>
          <p:cNvPr id="10" name="Text 8"/>
          <p:cNvSpPr/>
          <p:nvPr/>
        </p:nvSpPr>
        <p:spPr>
          <a:xfrm>
            <a:off x="548640" y="3017520"/>
            <a:ext cx="457200" cy="86868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02</a:t>
            </a:r>
            <a:endParaRPr lang="en-US" sz="1600" dirty="0"/>
          </a:p>
        </p:txBody>
      </p:sp>
      <p:sp>
        <p:nvSpPr>
          <p:cNvPr id="11" name="Text 9"/>
          <p:cNvSpPr/>
          <p:nvPr/>
        </p:nvSpPr>
        <p:spPr>
          <a:xfrm>
            <a:off x="1280160" y="3017520"/>
            <a:ext cx="1042416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Confirm the meeting time and route</a:t>
            </a:r>
            <a:endParaRPr lang="en-US" sz="1800" dirty="0"/>
          </a:p>
        </p:txBody>
      </p:sp>
      <p:sp>
        <p:nvSpPr>
          <p:cNvPr id="12" name="Text 10"/>
          <p:cNvSpPr/>
          <p:nvPr/>
        </p:nvSpPr>
        <p:spPr>
          <a:xfrm>
            <a:off x="1280160" y="3401568"/>
            <a:ext cx="10424160" cy="45720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10:00 at October Books, 189 Portswood Road. Map shared in the group.</a:t>
            </a:r>
            <a:endParaRPr lang="en-US" sz="1300" dirty="0"/>
          </a:p>
        </p:txBody>
      </p:sp>
      <p:sp>
        <p:nvSpPr>
          <p:cNvPr id="13" name="Shape 11"/>
          <p:cNvSpPr/>
          <p:nvPr/>
        </p:nvSpPr>
        <p:spPr>
          <a:xfrm>
            <a:off x="548640" y="4023360"/>
            <a:ext cx="457200" cy="868680"/>
          </a:xfrm>
          <a:prstGeom prst="rect">
            <a:avLst/>
          </a:prstGeom>
          <a:solidFill>
            <a:srgbClr val="C5E886"/>
          </a:solidFill>
          <a:ln w="12700">
            <a:solidFill>
              <a:srgbClr val="C5E886"/>
            </a:solidFill>
            <a:prstDash val="solid"/>
          </a:ln>
        </p:spPr>
      </p:sp>
      <p:sp>
        <p:nvSpPr>
          <p:cNvPr id="14" name="Text 12"/>
          <p:cNvSpPr/>
          <p:nvPr/>
        </p:nvSpPr>
        <p:spPr>
          <a:xfrm>
            <a:off x="548640" y="4023360"/>
            <a:ext cx="457200" cy="86868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03</a:t>
            </a:r>
            <a:endParaRPr lang="en-US" sz="1600" dirty="0"/>
          </a:p>
        </p:txBody>
      </p:sp>
      <p:sp>
        <p:nvSpPr>
          <p:cNvPr id="15" name="Text 13"/>
          <p:cNvSpPr/>
          <p:nvPr/>
        </p:nvSpPr>
        <p:spPr>
          <a:xfrm>
            <a:off x="1280160" y="4023360"/>
            <a:ext cx="1042416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Pair up for the walk</a:t>
            </a:r>
            <a:endParaRPr lang="en-US" sz="1800" dirty="0"/>
          </a:p>
        </p:txBody>
      </p:sp>
      <p:sp>
        <p:nvSpPr>
          <p:cNvPr id="16" name="Text 14"/>
          <p:cNvSpPr/>
          <p:nvPr/>
        </p:nvSpPr>
        <p:spPr>
          <a:xfrm>
            <a:off x="1280160" y="4407408"/>
            <a:ext cx="10424160" cy="45720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Pairs make better notes than individuals. One sketches, one writes. Swap halfway.</a:t>
            </a:r>
            <a:endParaRPr lang="en-US" sz="1300" dirty="0"/>
          </a:p>
        </p:txBody>
      </p:sp>
      <p:sp>
        <p:nvSpPr>
          <p:cNvPr id="17" name="Shape 15"/>
          <p:cNvSpPr/>
          <p:nvPr/>
        </p:nvSpPr>
        <p:spPr>
          <a:xfrm>
            <a:off x="548640" y="5029200"/>
            <a:ext cx="457200" cy="868680"/>
          </a:xfrm>
          <a:prstGeom prst="rect">
            <a:avLst/>
          </a:prstGeom>
          <a:solidFill>
            <a:srgbClr val="C5E886"/>
          </a:solidFill>
          <a:ln w="12700">
            <a:solidFill>
              <a:srgbClr val="C5E886"/>
            </a:solidFill>
            <a:prstDash val="solid"/>
          </a:ln>
        </p:spPr>
      </p:sp>
      <p:sp>
        <p:nvSpPr>
          <p:cNvPr id="18" name="Text 16"/>
          <p:cNvSpPr/>
          <p:nvPr/>
        </p:nvSpPr>
        <p:spPr>
          <a:xfrm>
            <a:off x="548640" y="5029200"/>
            <a:ext cx="457200" cy="86868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04</a:t>
            </a:r>
            <a:endParaRPr lang="en-US" sz="1600" dirty="0"/>
          </a:p>
        </p:txBody>
      </p:sp>
      <p:sp>
        <p:nvSpPr>
          <p:cNvPr id="19" name="Text 17"/>
          <p:cNvSpPr/>
          <p:nvPr/>
        </p:nvSpPr>
        <p:spPr>
          <a:xfrm>
            <a:off x="1280160" y="5029200"/>
            <a:ext cx="10424160" cy="365760"/>
          </a:xfrm>
          <a:prstGeom prst="rect">
            <a:avLst/>
          </a:prstGeom>
          <a:noFill/>
          <a:ln/>
        </p:spPr>
        <p:txBody>
          <a:bodyPr wrap="square" lIns="0" tIns="0" rIns="0" bIns="0" rtlCol="0" anchor="ctr"/>
          <a:lstStyle/>
          <a:p>
            <a:pPr indent="0" marL="0">
              <a:buNone/>
            </a:pPr>
            <a:r>
              <a:rPr lang="en-US" sz="1800" b="1" dirty="0">
                <a:solidFill>
                  <a:srgbClr val="2A2A2A"/>
                </a:solidFill>
                <a:latin typeface="Georgia" pitchFamily="34" charset="0"/>
                <a:ea typeface="Georgia" pitchFamily="34" charset="-122"/>
                <a:cs typeface="Georgia" pitchFamily="34" charset="-120"/>
              </a:rPr>
              <a:t>Questions</a:t>
            </a:r>
            <a:endParaRPr lang="en-US" sz="1800" dirty="0"/>
          </a:p>
        </p:txBody>
      </p:sp>
      <p:sp>
        <p:nvSpPr>
          <p:cNvPr id="20" name="Text 18"/>
          <p:cNvSpPr/>
          <p:nvPr/>
        </p:nvSpPr>
        <p:spPr>
          <a:xfrm>
            <a:off x="1280160" y="5413248"/>
            <a:ext cx="10424160" cy="45720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Anything about the day, the kit, the sites, the assessment connection. Ask now.</a:t>
            </a:r>
            <a:endParaRPr lang="en-US" sz="1300" dirty="0"/>
          </a:p>
        </p:txBody>
      </p:sp>
      <p:sp>
        <p:nvSpPr>
          <p:cNvPr id="21" name="Text 1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ARTD2144 Interactivity and Play</a:t>
            </a:r>
            <a:endParaRPr lang="en-US" sz="1000" dirty="0"/>
          </a:p>
        </p:txBody>
      </p:sp>
      <p:sp>
        <p:nvSpPr>
          <p:cNvPr id="22" name="Text 20"/>
          <p:cNvSpPr/>
          <p:nvPr/>
        </p:nvSpPr>
        <p:spPr>
          <a:xfrm>
            <a:off x="10698480"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 of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C5E886"/>
          </a:solidFill>
          <a:ln w="12700">
            <a:solidFill>
              <a:srgbClr val="C5E886"/>
            </a:solidFill>
            <a:prstDash val="solid"/>
          </a:ln>
        </p:spPr>
      </p:sp>
      <p:sp>
        <p:nvSpPr>
          <p:cNvPr id="3" name="Shape 1"/>
          <p:cNvSpPr/>
          <p:nvPr/>
        </p:nvSpPr>
        <p:spPr>
          <a:xfrm>
            <a:off x="11795760" y="0"/>
            <a:ext cx="365760" cy="6858000"/>
          </a:xfrm>
          <a:prstGeom prst="rect">
            <a:avLst/>
          </a:prstGeom>
          <a:solidFill>
            <a:srgbClr val="E8A0D8"/>
          </a:solidFill>
          <a:ln w="12700">
            <a:solidFill>
              <a:srgbClr val="E8A0D8"/>
            </a:solidFill>
            <a:prstDash val="solid"/>
          </a:ln>
        </p:spPr>
      </p:sp>
      <p:sp>
        <p:nvSpPr>
          <p:cNvPr id="4" name="Text 2"/>
          <p:cNvSpPr/>
          <p:nvPr/>
        </p:nvSpPr>
        <p:spPr>
          <a:xfrm>
            <a:off x="822960" y="1463040"/>
            <a:ext cx="10515600" cy="219456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A walk, a survey,</a:t>
            </a:r>
            <a:endParaRPr lang="en-US" sz="4800" dirty="0"/>
          </a:p>
          <a:p>
            <a:pPr indent="0" marL="0">
              <a:buNone/>
            </a:pPr>
            <a:r>
              <a:rPr lang="en-US" sz="4800" b="1" dirty="0">
                <a:solidFill>
                  <a:srgbClr val="FFFFFF"/>
                </a:solidFill>
                <a:latin typeface="Georgia" pitchFamily="34" charset="0"/>
                <a:ea typeface="Georgia" pitchFamily="34" charset="-122"/>
                <a:cs typeface="Georgia" pitchFamily="34" charset="-120"/>
              </a:rPr>
              <a:t>one node set up,</a:t>
            </a:r>
            <a:endParaRPr lang="en-US" sz="4800" dirty="0"/>
          </a:p>
        </p:txBody>
      </p:sp>
      <p:sp>
        <p:nvSpPr>
          <p:cNvPr id="5" name="Text 3"/>
          <p:cNvSpPr/>
          <p:nvPr/>
        </p:nvSpPr>
        <p:spPr>
          <a:xfrm>
            <a:off x="822960" y="3566160"/>
            <a:ext cx="10515600" cy="914400"/>
          </a:xfrm>
          <a:prstGeom prst="rect">
            <a:avLst/>
          </a:prstGeom>
          <a:noFill/>
          <a:ln/>
        </p:spPr>
        <p:txBody>
          <a:bodyPr wrap="square" lIns="0" tIns="0" rIns="0" bIns="0" rtlCol="0" anchor="ctr"/>
          <a:lstStyle/>
          <a:p>
            <a:pPr indent="0" marL="0">
              <a:buNone/>
            </a:pPr>
            <a:r>
              <a:rPr lang="en-US" sz="4800" b="1" dirty="0">
                <a:solidFill>
                  <a:srgbClr val="C5E886"/>
                </a:solidFill>
                <a:latin typeface="Georgia" pitchFamily="34" charset="0"/>
                <a:ea typeface="Georgia" pitchFamily="34" charset="-122"/>
                <a:cs typeface="Georgia" pitchFamily="34" charset="-120"/>
              </a:rPr>
              <a:t>and a plan for next year.</a:t>
            </a:r>
            <a:endParaRPr lang="en-US" sz="4800" dirty="0"/>
          </a:p>
        </p:txBody>
      </p:sp>
      <p:sp>
        <p:nvSpPr>
          <p:cNvPr id="6" name="Text 4"/>
          <p:cNvSpPr/>
          <p:nvPr/>
        </p:nvSpPr>
        <p:spPr>
          <a:xfrm>
            <a:off x="822960" y="5120640"/>
            <a:ext cx="10515600" cy="457200"/>
          </a:xfrm>
          <a:prstGeom prst="rect">
            <a:avLst/>
          </a:prstGeom>
          <a:noFill/>
          <a:ln/>
        </p:spPr>
        <p:txBody>
          <a:bodyPr wrap="square" lIns="0" tIns="0" rIns="0" bIns="0" rtlCol="0" anchor="ctr"/>
          <a:lstStyle/>
          <a:p>
            <a:pPr indent="0" marL="0">
              <a:buNone/>
            </a:pPr>
            <a:r>
              <a:rPr lang="en-US" sz="1800" i="1" dirty="0">
                <a:solidFill>
                  <a:srgbClr val="DDDDDD"/>
                </a:solidFill>
                <a:latin typeface="Georgia" pitchFamily="34" charset="0"/>
                <a:ea typeface="Georgia" pitchFamily="34" charset="-122"/>
                <a:cs typeface="Georgia" pitchFamily="34" charset="-120"/>
              </a:rPr>
              <a:t>See you Thursday at 10:00, October Books, 189 Portswood Road.</a:t>
            </a:r>
            <a:endParaRPr lang="en-US" sz="1800" dirty="0"/>
          </a:p>
        </p:txBody>
      </p:sp>
      <p:sp>
        <p:nvSpPr>
          <p:cNvPr id="7" name="Text 5"/>
          <p:cNvSpPr/>
          <p:nvPr/>
        </p:nvSpPr>
        <p:spPr>
          <a:xfrm>
            <a:off x="822960" y="6126480"/>
            <a:ext cx="10515600" cy="274320"/>
          </a:xfrm>
          <a:prstGeom prst="rect">
            <a:avLst/>
          </a:prstGeom>
          <a:noFill/>
          <a:ln/>
        </p:spPr>
        <p:txBody>
          <a:bodyPr wrap="square" lIns="0" tIns="0" rIns="0" bIns="0" rtlCol="0" anchor="ctr"/>
          <a:lstStyle/>
          <a:p>
            <a:pPr indent="0" marL="0">
              <a:buNone/>
            </a:pPr>
            <a:r>
              <a:rPr lang="en-US" sz="1100" spc="300" kern="0" dirty="0">
                <a:solidFill>
                  <a:srgbClr val="888888"/>
                </a:solidFill>
                <a:latin typeface="Calibri" pitchFamily="34" charset="0"/>
                <a:ea typeface="Calibri" pitchFamily="34" charset="-122"/>
                <a:cs typeface="Calibri" pitchFamily="34" charset="-120"/>
              </a:rPr>
              <a:t>ARTD2144  ·  Week 12  ·  May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Interactivity and Play, Thursday session at October Books</dc:title>
  <dc:subject>PptxGenJS Presentation</dc:subject>
  <dc:creator>Dr Yadira Sanchez Benitez</dc:creator>
  <cp:lastModifiedBy>Dr Yadira Sanchez Benitez</cp:lastModifiedBy>
  <cp:revision>1</cp:revision>
  <dcterms:created xsi:type="dcterms:W3CDTF">2026-05-11T11:09:49Z</dcterms:created>
  <dcterms:modified xsi:type="dcterms:W3CDTF">2026-05-11T11:09:49Z</dcterms:modified>
</cp:coreProperties>
</file>